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262" r:id="rId4"/>
    <p:sldId id="263" r:id="rId5"/>
    <p:sldId id="289" r:id="rId6"/>
    <p:sldId id="277" r:id="rId7"/>
    <p:sldId id="303" r:id="rId8"/>
    <p:sldId id="287" r:id="rId9"/>
    <p:sldId id="273" r:id="rId10"/>
    <p:sldId id="290" r:id="rId11"/>
    <p:sldId id="288" r:id="rId12"/>
    <p:sldId id="291" r:id="rId13"/>
    <p:sldId id="274" r:id="rId14"/>
    <p:sldId id="293" r:id="rId15"/>
    <p:sldId id="292" r:id="rId16"/>
    <p:sldId id="294" r:id="rId17"/>
    <p:sldId id="295" r:id="rId18"/>
    <p:sldId id="296" r:id="rId19"/>
    <p:sldId id="297" r:id="rId20"/>
    <p:sldId id="298" r:id="rId21"/>
    <p:sldId id="304" r:id="rId22"/>
    <p:sldId id="308" r:id="rId23"/>
    <p:sldId id="299" r:id="rId24"/>
    <p:sldId id="300" r:id="rId25"/>
    <p:sldId id="305" r:id="rId26"/>
    <p:sldId id="309" r:id="rId27"/>
    <p:sldId id="312" r:id="rId28"/>
    <p:sldId id="311" r:id="rId29"/>
    <p:sldId id="286" r:id="rId30"/>
    <p:sldId id="2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1B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E5C1D5-4B1E-41F4-BFB6-07931FC5020B}"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6B090864-570E-4E4C-A466-EE5475F2F3E9}">
      <dgm:prSet custT="1"/>
      <dgm:spPr/>
      <dgm:t>
        <a:bodyPr/>
        <a:lstStyle/>
        <a:p>
          <a:r>
            <a:rPr lang="en-US" sz="1700" b="1" dirty="0"/>
            <a:t>developing</a:t>
          </a:r>
          <a:r>
            <a:rPr lang="en-US" sz="1700" dirty="0"/>
            <a:t> countries percentage is approximately the half of the countries represents 72 countries.</a:t>
          </a:r>
        </a:p>
      </dgm:t>
    </dgm:pt>
    <dgm:pt modelId="{7085525D-5F15-4985-A5B8-5A0C5095831B}" type="parTrans" cxnId="{5F7E9482-5D4B-40D2-91AB-9700F7606392}">
      <dgm:prSet/>
      <dgm:spPr/>
      <dgm:t>
        <a:bodyPr/>
        <a:lstStyle/>
        <a:p>
          <a:endParaRPr lang="en-US"/>
        </a:p>
      </dgm:t>
    </dgm:pt>
    <dgm:pt modelId="{5C8A66B6-5A1F-49F3-B143-8E775C67B3A1}" type="sibTrans" cxnId="{5F7E9482-5D4B-40D2-91AB-9700F7606392}">
      <dgm:prSet/>
      <dgm:spPr/>
      <dgm:t>
        <a:bodyPr/>
        <a:lstStyle/>
        <a:p>
          <a:endParaRPr lang="en-US"/>
        </a:p>
      </dgm:t>
    </dgm:pt>
    <dgm:pt modelId="{8365A72F-EE35-417B-AAB5-6F630E8F0CC8}">
      <dgm:prSet custT="1"/>
      <dgm:spPr/>
      <dgm:t>
        <a:bodyPr/>
        <a:lstStyle/>
        <a:p>
          <a:r>
            <a:rPr lang="en-US" sz="1700" dirty="0"/>
            <a:t>the </a:t>
          </a:r>
          <a:r>
            <a:rPr lang="en-US" sz="1700" b="1" dirty="0"/>
            <a:t>developed </a:t>
          </a:r>
          <a:r>
            <a:rPr lang="en-US" sz="1700" dirty="0"/>
            <a:t>and </a:t>
          </a:r>
          <a:r>
            <a:rPr lang="en-US" sz="1700" b="1" dirty="0"/>
            <a:t>least developed</a:t>
          </a:r>
          <a:r>
            <a:rPr lang="en-US" sz="1700" dirty="0"/>
            <a:t> are almost the same:</a:t>
          </a:r>
        </a:p>
      </dgm:t>
    </dgm:pt>
    <dgm:pt modelId="{FEEF78CF-6C4F-4580-B73F-A9D3FDE61532}" type="parTrans" cxnId="{2A26D696-1791-4627-BA5F-0F32D11DD6F8}">
      <dgm:prSet/>
      <dgm:spPr/>
      <dgm:t>
        <a:bodyPr/>
        <a:lstStyle/>
        <a:p>
          <a:endParaRPr lang="en-US"/>
        </a:p>
      </dgm:t>
    </dgm:pt>
    <dgm:pt modelId="{78B9639B-87F5-420C-9DCC-9F1DA0DB8193}" type="sibTrans" cxnId="{2A26D696-1791-4627-BA5F-0F32D11DD6F8}">
      <dgm:prSet/>
      <dgm:spPr/>
      <dgm:t>
        <a:bodyPr/>
        <a:lstStyle/>
        <a:p>
          <a:endParaRPr lang="en-US"/>
        </a:p>
      </dgm:t>
    </dgm:pt>
    <dgm:pt modelId="{4263ABA6-5F95-46ED-910D-E1C019799591}">
      <dgm:prSet custT="1"/>
      <dgm:spPr/>
      <dgm:t>
        <a:bodyPr/>
        <a:lstStyle/>
        <a:p>
          <a:r>
            <a:rPr lang="en-US" sz="1800" b="1" dirty="0"/>
            <a:t>developed</a:t>
          </a:r>
          <a:r>
            <a:rPr lang="en-US" sz="1800" dirty="0"/>
            <a:t> (41 countries)</a:t>
          </a:r>
        </a:p>
      </dgm:t>
    </dgm:pt>
    <dgm:pt modelId="{59C0FCB6-EC8E-4BE0-96FD-B72ACCAF84AD}" type="parTrans" cxnId="{E7141BA2-769A-410D-A943-7E3838B6D5EB}">
      <dgm:prSet/>
      <dgm:spPr/>
      <dgm:t>
        <a:bodyPr/>
        <a:lstStyle/>
        <a:p>
          <a:endParaRPr lang="en-US"/>
        </a:p>
      </dgm:t>
    </dgm:pt>
    <dgm:pt modelId="{CDE581A2-042B-4674-A657-6A3BF415A650}" type="sibTrans" cxnId="{E7141BA2-769A-410D-A943-7E3838B6D5EB}">
      <dgm:prSet/>
      <dgm:spPr/>
      <dgm:t>
        <a:bodyPr/>
        <a:lstStyle/>
        <a:p>
          <a:endParaRPr lang="en-US"/>
        </a:p>
      </dgm:t>
    </dgm:pt>
    <dgm:pt modelId="{5E009567-A263-4A98-8BE9-D9308B648400}">
      <dgm:prSet custT="1"/>
      <dgm:spPr/>
      <dgm:t>
        <a:bodyPr/>
        <a:lstStyle/>
        <a:p>
          <a:r>
            <a:rPr lang="en-US" sz="1800" b="1" dirty="0"/>
            <a:t>least developed </a:t>
          </a:r>
          <a:r>
            <a:rPr lang="en-US" sz="1800" dirty="0"/>
            <a:t>(43 countries)</a:t>
          </a:r>
        </a:p>
      </dgm:t>
    </dgm:pt>
    <dgm:pt modelId="{02D1F74A-EE8C-4142-8356-A4CB2498847C}" type="sibTrans" cxnId="{2EF91465-A66D-4857-9F37-0E08B88D8C49}">
      <dgm:prSet/>
      <dgm:spPr/>
      <dgm:t>
        <a:bodyPr/>
        <a:lstStyle/>
        <a:p>
          <a:endParaRPr lang="en-US"/>
        </a:p>
      </dgm:t>
    </dgm:pt>
    <dgm:pt modelId="{5F68EEC2-B031-4A1D-B744-EB3BF7AFAE37}" type="parTrans" cxnId="{2EF91465-A66D-4857-9F37-0E08B88D8C49}">
      <dgm:prSet/>
      <dgm:spPr/>
      <dgm:t>
        <a:bodyPr/>
        <a:lstStyle/>
        <a:p>
          <a:endParaRPr lang="en-US"/>
        </a:p>
      </dgm:t>
    </dgm:pt>
    <dgm:pt modelId="{290BFB9B-4DD8-46EF-9E87-CCB6EF1F0E72}" type="pres">
      <dgm:prSet presAssocID="{6AE5C1D5-4B1E-41F4-BFB6-07931FC5020B}" presName="outerComposite" presStyleCnt="0">
        <dgm:presLayoutVars>
          <dgm:chMax val="5"/>
          <dgm:dir/>
          <dgm:resizeHandles val="exact"/>
        </dgm:presLayoutVars>
      </dgm:prSet>
      <dgm:spPr/>
    </dgm:pt>
    <dgm:pt modelId="{ECB7637D-881E-48A5-B4B8-CCCD4B800ECF}" type="pres">
      <dgm:prSet presAssocID="{6AE5C1D5-4B1E-41F4-BFB6-07931FC5020B}" presName="dummyMaxCanvas" presStyleCnt="0">
        <dgm:presLayoutVars/>
      </dgm:prSet>
      <dgm:spPr/>
    </dgm:pt>
    <dgm:pt modelId="{20C74CF0-8A4A-4FDB-B2A9-65952AA82815}" type="pres">
      <dgm:prSet presAssocID="{6AE5C1D5-4B1E-41F4-BFB6-07931FC5020B}" presName="FourNodes_1" presStyleLbl="node1" presStyleIdx="0" presStyleCnt="4">
        <dgm:presLayoutVars>
          <dgm:bulletEnabled val="1"/>
        </dgm:presLayoutVars>
      </dgm:prSet>
      <dgm:spPr/>
    </dgm:pt>
    <dgm:pt modelId="{8C54CDBB-A984-434F-A046-8845B6398E82}" type="pres">
      <dgm:prSet presAssocID="{6AE5C1D5-4B1E-41F4-BFB6-07931FC5020B}" presName="FourNodes_2" presStyleLbl="node1" presStyleIdx="1" presStyleCnt="4">
        <dgm:presLayoutVars>
          <dgm:bulletEnabled val="1"/>
        </dgm:presLayoutVars>
      </dgm:prSet>
      <dgm:spPr/>
    </dgm:pt>
    <dgm:pt modelId="{E89E5ABE-CE06-41C0-83A3-A5D1A971F168}" type="pres">
      <dgm:prSet presAssocID="{6AE5C1D5-4B1E-41F4-BFB6-07931FC5020B}" presName="FourNodes_3" presStyleLbl="node1" presStyleIdx="2" presStyleCnt="4">
        <dgm:presLayoutVars>
          <dgm:bulletEnabled val="1"/>
        </dgm:presLayoutVars>
      </dgm:prSet>
      <dgm:spPr/>
    </dgm:pt>
    <dgm:pt modelId="{EAFA0158-C614-4FE2-891C-388668181248}" type="pres">
      <dgm:prSet presAssocID="{6AE5C1D5-4B1E-41F4-BFB6-07931FC5020B}" presName="FourNodes_4" presStyleLbl="node1" presStyleIdx="3" presStyleCnt="4">
        <dgm:presLayoutVars>
          <dgm:bulletEnabled val="1"/>
        </dgm:presLayoutVars>
      </dgm:prSet>
      <dgm:spPr/>
    </dgm:pt>
    <dgm:pt modelId="{477BECBB-E87C-46B1-8828-F201CFAFC1C2}" type="pres">
      <dgm:prSet presAssocID="{6AE5C1D5-4B1E-41F4-BFB6-07931FC5020B}" presName="FourConn_1-2" presStyleLbl="fgAccFollowNode1" presStyleIdx="0" presStyleCnt="3">
        <dgm:presLayoutVars>
          <dgm:bulletEnabled val="1"/>
        </dgm:presLayoutVars>
      </dgm:prSet>
      <dgm:spPr/>
    </dgm:pt>
    <dgm:pt modelId="{06C8B56B-85AA-488F-B84D-5E6D559930DB}" type="pres">
      <dgm:prSet presAssocID="{6AE5C1D5-4B1E-41F4-BFB6-07931FC5020B}" presName="FourConn_2-3" presStyleLbl="fgAccFollowNode1" presStyleIdx="1" presStyleCnt="3" custLinFactX="-64868" custLinFactNeighborX="-100000" custLinFactNeighborY="11225">
        <dgm:presLayoutVars>
          <dgm:bulletEnabled val="1"/>
        </dgm:presLayoutVars>
      </dgm:prSet>
      <dgm:spPr/>
    </dgm:pt>
    <dgm:pt modelId="{59120873-735E-4F04-A0BE-2186EE948985}" type="pres">
      <dgm:prSet presAssocID="{6AE5C1D5-4B1E-41F4-BFB6-07931FC5020B}" presName="FourConn_3-4" presStyleLbl="fgAccFollowNode1" presStyleIdx="2" presStyleCnt="3" custScaleY="274759" custLinFactNeighborX="-57342" custLinFactNeighborY="-88839">
        <dgm:presLayoutVars>
          <dgm:bulletEnabled val="1"/>
        </dgm:presLayoutVars>
      </dgm:prSet>
      <dgm:spPr/>
    </dgm:pt>
    <dgm:pt modelId="{C063246C-69A7-417B-8BDB-F6B08AE843F5}" type="pres">
      <dgm:prSet presAssocID="{6AE5C1D5-4B1E-41F4-BFB6-07931FC5020B}" presName="FourNodes_1_text" presStyleLbl="node1" presStyleIdx="3" presStyleCnt="4">
        <dgm:presLayoutVars>
          <dgm:bulletEnabled val="1"/>
        </dgm:presLayoutVars>
      </dgm:prSet>
      <dgm:spPr/>
    </dgm:pt>
    <dgm:pt modelId="{6E759F6F-1BD9-4F4A-B6D1-64588025F2B7}" type="pres">
      <dgm:prSet presAssocID="{6AE5C1D5-4B1E-41F4-BFB6-07931FC5020B}" presName="FourNodes_2_text" presStyleLbl="node1" presStyleIdx="3" presStyleCnt="4">
        <dgm:presLayoutVars>
          <dgm:bulletEnabled val="1"/>
        </dgm:presLayoutVars>
      </dgm:prSet>
      <dgm:spPr/>
    </dgm:pt>
    <dgm:pt modelId="{9507AEC3-7288-4C15-90DB-EC16F387D220}" type="pres">
      <dgm:prSet presAssocID="{6AE5C1D5-4B1E-41F4-BFB6-07931FC5020B}" presName="FourNodes_3_text" presStyleLbl="node1" presStyleIdx="3" presStyleCnt="4">
        <dgm:presLayoutVars>
          <dgm:bulletEnabled val="1"/>
        </dgm:presLayoutVars>
      </dgm:prSet>
      <dgm:spPr/>
    </dgm:pt>
    <dgm:pt modelId="{3FBCD8F7-AFB8-4808-9856-F1D91D5D60BB}" type="pres">
      <dgm:prSet presAssocID="{6AE5C1D5-4B1E-41F4-BFB6-07931FC5020B}" presName="FourNodes_4_text" presStyleLbl="node1" presStyleIdx="3" presStyleCnt="4">
        <dgm:presLayoutVars>
          <dgm:bulletEnabled val="1"/>
        </dgm:presLayoutVars>
      </dgm:prSet>
      <dgm:spPr/>
    </dgm:pt>
  </dgm:ptLst>
  <dgm:cxnLst>
    <dgm:cxn modelId="{C57CEF2D-690C-45A4-BF3B-9A5DF50DA2CA}" type="presOf" srcId="{4263ABA6-5F95-46ED-910D-E1C019799591}" destId="{E89E5ABE-CE06-41C0-83A3-A5D1A971F168}" srcOrd="0" destOrd="0" presId="urn:microsoft.com/office/officeart/2005/8/layout/vProcess5"/>
    <dgm:cxn modelId="{C2AE8134-69CA-4E56-B489-392712226678}" type="presOf" srcId="{78B9639B-87F5-420C-9DCC-9F1DA0DB8193}" destId="{06C8B56B-85AA-488F-B84D-5E6D559930DB}" srcOrd="0" destOrd="0" presId="urn:microsoft.com/office/officeart/2005/8/layout/vProcess5"/>
    <dgm:cxn modelId="{BE57243B-19DC-4149-8CC5-C4F43A8D452C}" type="presOf" srcId="{8365A72F-EE35-417B-AAB5-6F630E8F0CC8}" destId="{6E759F6F-1BD9-4F4A-B6D1-64588025F2B7}" srcOrd="1" destOrd="0" presId="urn:microsoft.com/office/officeart/2005/8/layout/vProcess5"/>
    <dgm:cxn modelId="{5C9BBD63-4533-4AF5-83AF-83692DDDE254}" type="presOf" srcId="{CDE581A2-042B-4674-A657-6A3BF415A650}" destId="{59120873-735E-4F04-A0BE-2186EE948985}" srcOrd="0" destOrd="0" presId="urn:microsoft.com/office/officeart/2005/8/layout/vProcess5"/>
    <dgm:cxn modelId="{2EF91465-A66D-4857-9F37-0E08B88D8C49}" srcId="{6AE5C1D5-4B1E-41F4-BFB6-07931FC5020B}" destId="{5E009567-A263-4A98-8BE9-D9308B648400}" srcOrd="3" destOrd="0" parTransId="{5F68EEC2-B031-4A1D-B744-EB3BF7AFAE37}" sibTransId="{02D1F74A-EE8C-4142-8356-A4CB2498847C}"/>
    <dgm:cxn modelId="{A3FDC866-B369-4766-B8AF-C0E68F25F30C}" type="presOf" srcId="{6AE5C1D5-4B1E-41F4-BFB6-07931FC5020B}" destId="{290BFB9B-4DD8-46EF-9E87-CCB6EF1F0E72}" srcOrd="0" destOrd="0" presId="urn:microsoft.com/office/officeart/2005/8/layout/vProcess5"/>
    <dgm:cxn modelId="{5EFDD178-363B-4CFD-9ED8-3E16CDEEB2B5}" type="presOf" srcId="{5C8A66B6-5A1F-49F3-B143-8E775C67B3A1}" destId="{477BECBB-E87C-46B1-8828-F201CFAFC1C2}" srcOrd="0" destOrd="0" presId="urn:microsoft.com/office/officeart/2005/8/layout/vProcess5"/>
    <dgm:cxn modelId="{5473187C-D2F8-4FDF-A069-C1E8A3A7E4CE}" type="presOf" srcId="{6B090864-570E-4E4C-A466-EE5475F2F3E9}" destId="{C063246C-69A7-417B-8BDB-F6B08AE843F5}" srcOrd="1" destOrd="0" presId="urn:microsoft.com/office/officeart/2005/8/layout/vProcess5"/>
    <dgm:cxn modelId="{FA5F4182-2A02-4D32-B291-7B4C54609281}" type="presOf" srcId="{6B090864-570E-4E4C-A466-EE5475F2F3E9}" destId="{20C74CF0-8A4A-4FDB-B2A9-65952AA82815}" srcOrd="0" destOrd="0" presId="urn:microsoft.com/office/officeart/2005/8/layout/vProcess5"/>
    <dgm:cxn modelId="{5F7E9482-5D4B-40D2-91AB-9700F7606392}" srcId="{6AE5C1D5-4B1E-41F4-BFB6-07931FC5020B}" destId="{6B090864-570E-4E4C-A466-EE5475F2F3E9}" srcOrd="0" destOrd="0" parTransId="{7085525D-5F15-4985-A5B8-5A0C5095831B}" sibTransId="{5C8A66B6-5A1F-49F3-B143-8E775C67B3A1}"/>
    <dgm:cxn modelId="{2A26D696-1791-4627-BA5F-0F32D11DD6F8}" srcId="{6AE5C1D5-4B1E-41F4-BFB6-07931FC5020B}" destId="{8365A72F-EE35-417B-AAB5-6F630E8F0CC8}" srcOrd="1" destOrd="0" parTransId="{FEEF78CF-6C4F-4580-B73F-A9D3FDE61532}" sibTransId="{78B9639B-87F5-420C-9DCC-9F1DA0DB8193}"/>
    <dgm:cxn modelId="{E7141BA2-769A-410D-A943-7E3838B6D5EB}" srcId="{6AE5C1D5-4B1E-41F4-BFB6-07931FC5020B}" destId="{4263ABA6-5F95-46ED-910D-E1C019799591}" srcOrd="2" destOrd="0" parTransId="{59C0FCB6-EC8E-4BE0-96FD-B72ACCAF84AD}" sibTransId="{CDE581A2-042B-4674-A657-6A3BF415A650}"/>
    <dgm:cxn modelId="{AB39C3B8-5A88-4BD9-83CB-61971ED11894}" type="presOf" srcId="{4263ABA6-5F95-46ED-910D-E1C019799591}" destId="{9507AEC3-7288-4C15-90DB-EC16F387D220}" srcOrd="1" destOrd="0" presId="urn:microsoft.com/office/officeart/2005/8/layout/vProcess5"/>
    <dgm:cxn modelId="{C21CC3C1-7BCB-4AD3-AD52-C9E30A81DFC1}" type="presOf" srcId="{5E009567-A263-4A98-8BE9-D9308B648400}" destId="{EAFA0158-C614-4FE2-891C-388668181248}" srcOrd="0" destOrd="0" presId="urn:microsoft.com/office/officeart/2005/8/layout/vProcess5"/>
    <dgm:cxn modelId="{1F12D0CA-7CF2-40DA-A9DD-CB07A1739873}" type="presOf" srcId="{5E009567-A263-4A98-8BE9-D9308B648400}" destId="{3FBCD8F7-AFB8-4808-9856-F1D91D5D60BB}" srcOrd="1" destOrd="0" presId="urn:microsoft.com/office/officeart/2005/8/layout/vProcess5"/>
    <dgm:cxn modelId="{1B74F9CB-F6BC-41A6-8A20-57DE57F02A6D}" type="presOf" srcId="{8365A72F-EE35-417B-AAB5-6F630E8F0CC8}" destId="{8C54CDBB-A984-434F-A046-8845B6398E82}" srcOrd="0" destOrd="0" presId="urn:microsoft.com/office/officeart/2005/8/layout/vProcess5"/>
    <dgm:cxn modelId="{BABC52FD-FCF0-4904-A127-18F49F74F3C9}" type="presParOf" srcId="{290BFB9B-4DD8-46EF-9E87-CCB6EF1F0E72}" destId="{ECB7637D-881E-48A5-B4B8-CCCD4B800ECF}" srcOrd="0" destOrd="0" presId="urn:microsoft.com/office/officeart/2005/8/layout/vProcess5"/>
    <dgm:cxn modelId="{EF98FFB1-72D9-4663-8640-8093565B7672}" type="presParOf" srcId="{290BFB9B-4DD8-46EF-9E87-CCB6EF1F0E72}" destId="{20C74CF0-8A4A-4FDB-B2A9-65952AA82815}" srcOrd="1" destOrd="0" presId="urn:microsoft.com/office/officeart/2005/8/layout/vProcess5"/>
    <dgm:cxn modelId="{C84D296A-72A5-4175-845A-B9AB6166D72A}" type="presParOf" srcId="{290BFB9B-4DD8-46EF-9E87-CCB6EF1F0E72}" destId="{8C54CDBB-A984-434F-A046-8845B6398E82}" srcOrd="2" destOrd="0" presId="urn:microsoft.com/office/officeart/2005/8/layout/vProcess5"/>
    <dgm:cxn modelId="{A446D2D1-FA3A-4F7C-BCAB-E4DFE6F9BD01}" type="presParOf" srcId="{290BFB9B-4DD8-46EF-9E87-CCB6EF1F0E72}" destId="{E89E5ABE-CE06-41C0-83A3-A5D1A971F168}" srcOrd="3" destOrd="0" presId="urn:microsoft.com/office/officeart/2005/8/layout/vProcess5"/>
    <dgm:cxn modelId="{C76541A2-8768-4A8F-A79A-52ABB5D27E17}" type="presParOf" srcId="{290BFB9B-4DD8-46EF-9E87-CCB6EF1F0E72}" destId="{EAFA0158-C614-4FE2-891C-388668181248}" srcOrd="4" destOrd="0" presId="urn:microsoft.com/office/officeart/2005/8/layout/vProcess5"/>
    <dgm:cxn modelId="{CA24C33C-049A-4808-B738-D8FE186967EF}" type="presParOf" srcId="{290BFB9B-4DD8-46EF-9E87-CCB6EF1F0E72}" destId="{477BECBB-E87C-46B1-8828-F201CFAFC1C2}" srcOrd="5" destOrd="0" presId="urn:microsoft.com/office/officeart/2005/8/layout/vProcess5"/>
    <dgm:cxn modelId="{2A3A97E6-47F9-442B-B8D6-B221A3C5C519}" type="presParOf" srcId="{290BFB9B-4DD8-46EF-9E87-CCB6EF1F0E72}" destId="{06C8B56B-85AA-488F-B84D-5E6D559930DB}" srcOrd="6" destOrd="0" presId="urn:microsoft.com/office/officeart/2005/8/layout/vProcess5"/>
    <dgm:cxn modelId="{B4BC6D2E-651C-4B93-95C6-146521248AD2}" type="presParOf" srcId="{290BFB9B-4DD8-46EF-9E87-CCB6EF1F0E72}" destId="{59120873-735E-4F04-A0BE-2186EE948985}" srcOrd="7" destOrd="0" presId="urn:microsoft.com/office/officeart/2005/8/layout/vProcess5"/>
    <dgm:cxn modelId="{EFDD6AEE-7EC1-417B-BB66-9432D9156566}" type="presParOf" srcId="{290BFB9B-4DD8-46EF-9E87-CCB6EF1F0E72}" destId="{C063246C-69A7-417B-8BDB-F6B08AE843F5}" srcOrd="8" destOrd="0" presId="urn:microsoft.com/office/officeart/2005/8/layout/vProcess5"/>
    <dgm:cxn modelId="{8A383D39-6CD0-43DE-B9F6-464B475B6F30}" type="presParOf" srcId="{290BFB9B-4DD8-46EF-9E87-CCB6EF1F0E72}" destId="{6E759F6F-1BD9-4F4A-B6D1-64588025F2B7}" srcOrd="9" destOrd="0" presId="urn:microsoft.com/office/officeart/2005/8/layout/vProcess5"/>
    <dgm:cxn modelId="{ACAAAC98-0FF6-4965-8466-12AE7D7F0E4A}" type="presParOf" srcId="{290BFB9B-4DD8-46EF-9E87-CCB6EF1F0E72}" destId="{9507AEC3-7288-4C15-90DB-EC16F387D220}" srcOrd="10" destOrd="0" presId="urn:microsoft.com/office/officeart/2005/8/layout/vProcess5"/>
    <dgm:cxn modelId="{226861E0-417D-403C-91D2-618F4EF8B673}" type="presParOf" srcId="{290BFB9B-4DD8-46EF-9E87-CCB6EF1F0E72}" destId="{3FBCD8F7-AFB8-4808-9856-F1D91D5D60BB}"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7D7B85-571F-4041-93BC-69DF0CEAAC9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7386F50-9AA9-438E-BA77-BACEA02D3C17}">
      <dgm:prSet/>
      <dgm:spPr/>
      <dgm:t>
        <a:bodyPr/>
        <a:lstStyle/>
        <a:p>
          <a:r>
            <a:rPr lang="en-US" dirty="0"/>
            <a:t>World War II had a significant impact on the economic growth of</a:t>
          </a:r>
          <a:r>
            <a:rPr lang="en-US" b="1" dirty="0"/>
            <a:t> developed </a:t>
          </a:r>
          <a:r>
            <a:rPr lang="en-US" dirty="0"/>
            <a:t>and </a:t>
          </a:r>
          <a:r>
            <a:rPr lang="en-US" b="1" dirty="0"/>
            <a:t>developing countries</a:t>
          </a:r>
          <a:r>
            <a:rPr lang="en-US" dirty="0"/>
            <a:t>, slowing the growth of </a:t>
          </a:r>
          <a:r>
            <a:rPr lang="en-US" b="1" u="sng" dirty="0"/>
            <a:t>Gross National Income (GNI) </a:t>
          </a:r>
          <a:r>
            <a:rPr lang="en-US" dirty="0"/>
            <a:t>during the war period. In contrast, </a:t>
          </a:r>
          <a:r>
            <a:rPr lang="en-US" b="1" dirty="0"/>
            <a:t>least developed </a:t>
          </a:r>
          <a:r>
            <a:rPr lang="en-US" dirty="0"/>
            <a:t>countries showed no clear short-term disruption in GNI growth.</a:t>
          </a:r>
        </a:p>
      </dgm:t>
    </dgm:pt>
    <dgm:pt modelId="{604A2AF3-B32A-4BD8-86A6-B7CB4BA2F422}" type="parTrans" cxnId="{50C83934-8D7F-46BC-8038-E68A51AD699F}">
      <dgm:prSet/>
      <dgm:spPr/>
      <dgm:t>
        <a:bodyPr/>
        <a:lstStyle/>
        <a:p>
          <a:endParaRPr lang="en-US"/>
        </a:p>
      </dgm:t>
    </dgm:pt>
    <dgm:pt modelId="{39073A95-817E-461C-B4A7-139699C95480}" type="sibTrans" cxnId="{50C83934-8D7F-46BC-8038-E68A51AD699F}">
      <dgm:prSet/>
      <dgm:spPr/>
      <dgm:t>
        <a:bodyPr/>
        <a:lstStyle/>
        <a:p>
          <a:endParaRPr lang="en-US"/>
        </a:p>
      </dgm:t>
    </dgm:pt>
    <dgm:pt modelId="{4D481A34-B4BD-4D43-AFB8-C534EB986AF0}">
      <dgm:prSet/>
      <dgm:spPr/>
      <dgm:t>
        <a:bodyPr/>
        <a:lstStyle/>
        <a:p>
          <a:r>
            <a:rPr lang="en-US" dirty="0"/>
            <a:t>The war also had a stronger effect on </a:t>
          </a:r>
          <a:r>
            <a:rPr lang="en-US" b="1" u="sng" dirty="0"/>
            <a:t>life expectancy </a:t>
          </a:r>
          <a:r>
            <a:rPr lang="en-US" dirty="0"/>
            <a:t>in </a:t>
          </a:r>
          <a:r>
            <a:rPr lang="en-US" b="1" dirty="0"/>
            <a:t>developed and industrialized countries</a:t>
          </a:r>
          <a:r>
            <a:rPr lang="en-US" dirty="0"/>
            <a:t>, where wartime destruction and social disruption caused temporary declines and instability. Meanwhile</a:t>
          </a:r>
          <a:r>
            <a:rPr lang="en-US" b="1" dirty="0"/>
            <a:t>, least developed countries </a:t>
          </a:r>
          <a:r>
            <a:rPr lang="en-US" dirty="0"/>
            <a:t>experienced more limited short-term effects but continued to maintain lower life expectancy levels throughout the studied period.</a:t>
          </a:r>
        </a:p>
      </dgm:t>
    </dgm:pt>
    <dgm:pt modelId="{6D2C3097-40A3-4D0A-9210-5749499C49F4}" type="parTrans" cxnId="{B3FE9FF4-F343-43CA-8EE5-01E73CA5605F}">
      <dgm:prSet/>
      <dgm:spPr/>
      <dgm:t>
        <a:bodyPr/>
        <a:lstStyle/>
        <a:p>
          <a:endParaRPr lang="en-US"/>
        </a:p>
      </dgm:t>
    </dgm:pt>
    <dgm:pt modelId="{BA877053-F70B-413C-BAE8-F20C3545BF19}" type="sibTrans" cxnId="{B3FE9FF4-F343-43CA-8EE5-01E73CA5605F}">
      <dgm:prSet/>
      <dgm:spPr/>
      <dgm:t>
        <a:bodyPr/>
        <a:lstStyle/>
        <a:p>
          <a:endParaRPr lang="en-US"/>
        </a:p>
      </dgm:t>
    </dgm:pt>
    <dgm:pt modelId="{FA30A87E-E630-4B33-832A-175456780920}">
      <dgm:prSet/>
      <dgm:spPr/>
      <dgm:t>
        <a:bodyPr/>
        <a:lstStyle/>
        <a:p>
          <a:r>
            <a:rPr lang="en-US" dirty="0"/>
            <a:t>After World War II, </a:t>
          </a:r>
          <a:r>
            <a:rPr lang="en-US" b="1" u="sng" dirty="0"/>
            <a:t>CO₂ emissions </a:t>
          </a:r>
          <a:r>
            <a:rPr lang="en-US" b="1" dirty="0"/>
            <a:t>increased sharply across all country groups</a:t>
          </a:r>
          <a:r>
            <a:rPr lang="en-US" dirty="0"/>
            <a:t>, reflecting rapid industrial expansion and post-war economic recovery. However, </a:t>
          </a:r>
          <a:r>
            <a:rPr lang="en-US" b="1" dirty="0"/>
            <a:t>developed countries </a:t>
          </a:r>
          <a:r>
            <a:rPr lang="en-US" dirty="0"/>
            <a:t>experienced much higher emission growth than the other groups due to faster industrialization and larger-scale economic activity, while </a:t>
          </a:r>
          <a:r>
            <a:rPr lang="en-US" b="1" dirty="0"/>
            <a:t>least developed countries </a:t>
          </a:r>
          <a:r>
            <a:rPr lang="en-US" dirty="0"/>
            <a:t>remained below 1 unit throughout the period.</a:t>
          </a:r>
        </a:p>
      </dgm:t>
    </dgm:pt>
    <dgm:pt modelId="{5AB16222-5D3F-4DF4-8962-FAA1B7E148F9}" type="parTrans" cxnId="{B036C6B5-C6B3-4F4D-B5F1-909E0BA32689}">
      <dgm:prSet/>
      <dgm:spPr/>
      <dgm:t>
        <a:bodyPr/>
        <a:lstStyle/>
        <a:p>
          <a:endParaRPr lang="en-US"/>
        </a:p>
      </dgm:t>
    </dgm:pt>
    <dgm:pt modelId="{063DB732-EB15-4AA0-9E1F-326F841922C9}" type="sibTrans" cxnId="{B036C6B5-C6B3-4F4D-B5F1-909E0BA32689}">
      <dgm:prSet/>
      <dgm:spPr/>
      <dgm:t>
        <a:bodyPr/>
        <a:lstStyle/>
        <a:p>
          <a:endParaRPr lang="en-US"/>
        </a:p>
      </dgm:t>
    </dgm:pt>
    <dgm:pt modelId="{E1FEAAD0-9BEB-4AF3-B724-8093982CFE3A}" type="pres">
      <dgm:prSet presAssocID="{BC7D7B85-571F-4041-93BC-69DF0CEAAC95}" presName="vert0" presStyleCnt="0">
        <dgm:presLayoutVars>
          <dgm:dir/>
          <dgm:animOne val="branch"/>
          <dgm:animLvl val="lvl"/>
        </dgm:presLayoutVars>
      </dgm:prSet>
      <dgm:spPr/>
    </dgm:pt>
    <dgm:pt modelId="{6737EDD4-88D1-4A3D-9A7D-AEE3F3CA5D66}" type="pres">
      <dgm:prSet presAssocID="{D7386F50-9AA9-438E-BA77-BACEA02D3C17}" presName="thickLine" presStyleLbl="alignNode1" presStyleIdx="0" presStyleCnt="3"/>
      <dgm:spPr/>
    </dgm:pt>
    <dgm:pt modelId="{98B3C539-EF03-4AF0-AE61-C6E009F53CDF}" type="pres">
      <dgm:prSet presAssocID="{D7386F50-9AA9-438E-BA77-BACEA02D3C17}" presName="horz1" presStyleCnt="0"/>
      <dgm:spPr/>
    </dgm:pt>
    <dgm:pt modelId="{ACB281B8-2DA6-49B8-A106-9E94E4759DCB}" type="pres">
      <dgm:prSet presAssocID="{D7386F50-9AA9-438E-BA77-BACEA02D3C17}" presName="tx1" presStyleLbl="revTx" presStyleIdx="0" presStyleCnt="3"/>
      <dgm:spPr/>
    </dgm:pt>
    <dgm:pt modelId="{4CCE3B65-E2DB-486C-B0D6-06FBB5C0DDF3}" type="pres">
      <dgm:prSet presAssocID="{D7386F50-9AA9-438E-BA77-BACEA02D3C17}" presName="vert1" presStyleCnt="0"/>
      <dgm:spPr/>
    </dgm:pt>
    <dgm:pt modelId="{9CFD683D-197A-4488-AFA9-B5DC90330876}" type="pres">
      <dgm:prSet presAssocID="{4D481A34-B4BD-4D43-AFB8-C534EB986AF0}" presName="thickLine" presStyleLbl="alignNode1" presStyleIdx="1" presStyleCnt="3"/>
      <dgm:spPr/>
    </dgm:pt>
    <dgm:pt modelId="{04251EB3-B2A1-49D7-B87A-C3F6C20906F0}" type="pres">
      <dgm:prSet presAssocID="{4D481A34-B4BD-4D43-AFB8-C534EB986AF0}" presName="horz1" presStyleCnt="0"/>
      <dgm:spPr/>
    </dgm:pt>
    <dgm:pt modelId="{D1917FCD-1991-462D-8C34-60C54C349138}" type="pres">
      <dgm:prSet presAssocID="{4D481A34-B4BD-4D43-AFB8-C534EB986AF0}" presName="tx1" presStyleLbl="revTx" presStyleIdx="1" presStyleCnt="3"/>
      <dgm:spPr/>
    </dgm:pt>
    <dgm:pt modelId="{8B0ACC78-ED09-488F-A1BE-76079D461C89}" type="pres">
      <dgm:prSet presAssocID="{4D481A34-B4BD-4D43-AFB8-C534EB986AF0}" presName="vert1" presStyleCnt="0"/>
      <dgm:spPr/>
    </dgm:pt>
    <dgm:pt modelId="{E209E684-29C0-4E01-9F07-4D50670506BB}" type="pres">
      <dgm:prSet presAssocID="{FA30A87E-E630-4B33-832A-175456780920}" presName="thickLine" presStyleLbl="alignNode1" presStyleIdx="2" presStyleCnt="3"/>
      <dgm:spPr/>
    </dgm:pt>
    <dgm:pt modelId="{F556F81A-CE33-4503-8BF9-142BDDE35168}" type="pres">
      <dgm:prSet presAssocID="{FA30A87E-E630-4B33-832A-175456780920}" presName="horz1" presStyleCnt="0"/>
      <dgm:spPr/>
    </dgm:pt>
    <dgm:pt modelId="{DAE8E019-357B-4906-B830-A610933B8465}" type="pres">
      <dgm:prSet presAssocID="{FA30A87E-E630-4B33-832A-175456780920}" presName="tx1" presStyleLbl="revTx" presStyleIdx="2" presStyleCnt="3"/>
      <dgm:spPr/>
    </dgm:pt>
    <dgm:pt modelId="{71DF32C8-7906-429B-B1E5-C6F393476C6D}" type="pres">
      <dgm:prSet presAssocID="{FA30A87E-E630-4B33-832A-175456780920}" presName="vert1" presStyleCnt="0"/>
      <dgm:spPr/>
    </dgm:pt>
  </dgm:ptLst>
  <dgm:cxnLst>
    <dgm:cxn modelId="{50C83934-8D7F-46BC-8038-E68A51AD699F}" srcId="{BC7D7B85-571F-4041-93BC-69DF0CEAAC95}" destId="{D7386F50-9AA9-438E-BA77-BACEA02D3C17}" srcOrd="0" destOrd="0" parTransId="{604A2AF3-B32A-4BD8-86A6-B7CB4BA2F422}" sibTransId="{39073A95-817E-461C-B4A7-139699C95480}"/>
    <dgm:cxn modelId="{47DD9652-CA98-45E0-A52E-FB41BC453301}" type="presOf" srcId="{BC7D7B85-571F-4041-93BC-69DF0CEAAC95}" destId="{E1FEAAD0-9BEB-4AF3-B724-8093982CFE3A}" srcOrd="0" destOrd="0" presId="urn:microsoft.com/office/officeart/2008/layout/LinedList"/>
    <dgm:cxn modelId="{7BBD1D91-42CD-4E96-A52D-A6D5A3AD1C76}" type="presOf" srcId="{4D481A34-B4BD-4D43-AFB8-C534EB986AF0}" destId="{D1917FCD-1991-462D-8C34-60C54C349138}" srcOrd="0" destOrd="0" presId="urn:microsoft.com/office/officeart/2008/layout/LinedList"/>
    <dgm:cxn modelId="{C20474AC-5C9F-4024-B9F6-85E19515ECF7}" type="presOf" srcId="{D7386F50-9AA9-438E-BA77-BACEA02D3C17}" destId="{ACB281B8-2DA6-49B8-A106-9E94E4759DCB}" srcOrd="0" destOrd="0" presId="urn:microsoft.com/office/officeart/2008/layout/LinedList"/>
    <dgm:cxn modelId="{B036C6B5-C6B3-4F4D-B5F1-909E0BA32689}" srcId="{BC7D7B85-571F-4041-93BC-69DF0CEAAC95}" destId="{FA30A87E-E630-4B33-832A-175456780920}" srcOrd="2" destOrd="0" parTransId="{5AB16222-5D3F-4DF4-8962-FAA1B7E148F9}" sibTransId="{063DB732-EB15-4AA0-9E1F-326F841922C9}"/>
    <dgm:cxn modelId="{861AB1CE-C03E-4C58-983A-8E7DCCBEA599}" type="presOf" srcId="{FA30A87E-E630-4B33-832A-175456780920}" destId="{DAE8E019-357B-4906-B830-A610933B8465}" srcOrd="0" destOrd="0" presId="urn:microsoft.com/office/officeart/2008/layout/LinedList"/>
    <dgm:cxn modelId="{B3FE9FF4-F343-43CA-8EE5-01E73CA5605F}" srcId="{BC7D7B85-571F-4041-93BC-69DF0CEAAC95}" destId="{4D481A34-B4BD-4D43-AFB8-C534EB986AF0}" srcOrd="1" destOrd="0" parTransId="{6D2C3097-40A3-4D0A-9210-5749499C49F4}" sibTransId="{BA877053-F70B-413C-BAE8-F20C3545BF19}"/>
    <dgm:cxn modelId="{F42229FC-148C-4312-A219-08258B95A987}" type="presParOf" srcId="{E1FEAAD0-9BEB-4AF3-B724-8093982CFE3A}" destId="{6737EDD4-88D1-4A3D-9A7D-AEE3F3CA5D66}" srcOrd="0" destOrd="0" presId="urn:microsoft.com/office/officeart/2008/layout/LinedList"/>
    <dgm:cxn modelId="{D27FFFE8-DA1F-4CB8-9349-C77328F77A15}" type="presParOf" srcId="{E1FEAAD0-9BEB-4AF3-B724-8093982CFE3A}" destId="{98B3C539-EF03-4AF0-AE61-C6E009F53CDF}" srcOrd="1" destOrd="0" presId="urn:microsoft.com/office/officeart/2008/layout/LinedList"/>
    <dgm:cxn modelId="{FB39E5FC-A4BB-49FC-8FE7-77FD2C6B6E9B}" type="presParOf" srcId="{98B3C539-EF03-4AF0-AE61-C6E009F53CDF}" destId="{ACB281B8-2DA6-49B8-A106-9E94E4759DCB}" srcOrd="0" destOrd="0" presId="urn:microsoft.com/office/officeart/2008/layout/LinedList"/>
    <dgm:cxn modelId="{88A4C9ED-C2D5-48F8-9A2B-8416BEC12DA1}" type="presParOf" srcId="{98B3C539-EF03-4AF0-AE61-C6E009F53CDF}" destId="{4CCE3B65-E2DB-486C-B0D6-06FBB5C0DDF3}" srcOrd="1" destOrd="0" presId="urn:microsoft.com/office/officeart/2008/layout/LinedList"/>
    <dgm:cxn modelId="{B3F02437-F700-4EFB-9B4B-32557F6E0C96}" type="presParOf" srcId="{E1FEAAD0-9BEB-4AF3-B724-8093982CFE3A}" destId="{9CFD683D-197A-4488-AFA9-B5DC90330876}" srcOrd="2" destOrd="0" presId="urn:microsoft.com/office/officeart/2008/layout/LinedList"/>
    <dgm:cxn modelId="{A3FEC7CC-9969-4C31-AA86-57239492B3CC}" type="presParOf" srcId="{E1FEAAD0-9BEB-4AF3-B724-8093982CFE3A}" destId="{04251EB3-B2A1-49D7-B87A-C3F6C20906F0}" srcOrd="3" destOrd="0" presId="urn:microsoft.com/office/officeart/2008/layout/LinedList"/>
    <dgm:cxn modelId="{3FE51CBE-AE26-4A8E-9A1E-5564D3BDC16C}" type="presParOf" srcId="{04251EB3-B2A1-49D7-B87A-C3F6C20906F0}" destId="{D1917FCD-1991-462D-8C34-60C54C349138}" srcOrd="0" destOrd="0" presId="urn:microsoft.com/office/officeart/2008/layout/LinedList"/>
    <dgm:cxn modelId="{17DC9411-8397-47B2-A72C-A12008216AD6}" type="presParOf" srcId="{04251EB3-B2A1-49D7-B87A-C3F6C20906F0}" destId="{8B0ACC78-ED09-488F-A1BE-76079D461C89}" srcOrd="1" destOrd="0" presId="urn:microsoft.com/office/officeart/2008/layout/LinedList"/>
    <dgm:cxn modelId="{A615FB52-626F-4628-AE8F-4727CDF2D55F}" type="presParOf" srcId="{E1FEAAD0-9BEB-4AF3-B724-8093982CFE3A}" destId="{E209E684-29C0-4E01-9F07-4D50670506BB}" srcOrd="4" destOrd="0" presId="urn:microsoft.com/office/officeart/2008/layout/LinedList"/>
    <dgm:cxn modelId="{DCDD921D-7BBD-4860-9334-B6314E8280BD}" type="presParOf" srcId="{E1FEAAD0-9BEB-4AF3-B724-8093982CFE3A}" destId="{F556F81A-CE33-4503-8BF9-142BDDE35168}" srcOrd="5" destOrd="0" presId="urn:microsoft.com/office/officeart/2008/layout/LinedList"/>
    <dgm:cxn modelId="{3C4DEEFB-32EB-4CD0-9E31-DA2C8AC84464}" type="presParOf" srcId="{F556F81A-CE33-4503-8BF9-142BDDE35168}" destId="{DAE8E019-357B-4906-B830-A610933B8465}" srcOrd="0" destOrd="0" presId="urn:microsoft.com/office/officeart/2008/layout/LinedList"/>
    <dgm:cxn modelId="{E938A67D-3515-452F-8DED-DD3E483AE19E}" type="presParOf" srcId="{F556F81A-CE33-4503-8BF9-142BDDE35168}" destId="{71DF32C8-7906-429B-B1E5-C6F393476C6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2DDB5F-7A2E-4BCF-A0EB-CF3AEB9140DD}" type="doc">
      <dgm:prSet loTypeId="urn:microsoft.com/office/officeart/2017/3/layout/HorizontalLabelsTimeline" loCatId="process" qsTypeId="urn:microsoft.com/office/officeart/2005/8/quickstyle/simple1" qsCatId="simple" csTypeId="urn:microsoft.com/office/officeart/2005/8/colors/accent1_2" csCatId="accent1" phldr="1"/>
      <dgm:spPr/>
      <dgm:t>
        <a:bodyPr/>
        <a:lstStyle/>
        <a:p>
          <a:endParaRPr lang="en-US"/>
        </a:p>
      </dgm:t>
    </dgm:pt>
    <dgm:pt modelId="{A388C761-577E-4564-ABE3-379B9EBA8906}">
      <dgm:prSet/>
      <dgm:spPr/>
      <dgm:t>
        <a:bodyPr/>
        <a:lstStyle/>
        <a:p>
          <a:pPr>
            <a:defRPr b="1"/>
          </a:pPr>
          <a:r>
            <a:rPr lang="en-US"/>
            <a:t>1925–1930s</a:t>
          </a:r>
        </a:p>
      </dgm:t>
    </dgm:pt>
    <dgm:pt modelId="{0F152909-471B-4D04-BA5B-A303F8BA14CC}" type="parTrans" cxnId="{E05FCF38-F392-4034-A0A7-3830A5CC3D76}">
      <dgm:prSet/>
      <dgm:spPr/>
      <dgm:t>
        <a:bodyPr/>
        <a:lstStyle/>
        <a:p>
          <a:endParaRPr lang="en-US"/>
        </a:p>
      </dgm:t>
    </dgm:pt>
    <dgm:pt modelId="{6982FA89-32BC-45BD-B87A-E61B35AE9330}" type="sibTrans" cxnId="{E05FCF38-F392-4034-A0A7-3830A5CC3D76}">
      <dgm:prSet/>
      <dgm:spPr/>
      <dgm:t>
        <a:bodyPr/>
        <a:lstStyle/>
        <a:p>
          <a:endParaRPr lang="en-US"/>
        </a:p>
      </dgm:t>
    </dgm:pt>
    <dgm:pt modelId="{4B45EAD6-4906-41CF-A983-7141BEE63F74}">
      <dgm:prSet custT="1"/>
      <dgm:spPr/>
      <dgm:t>
        <a:bodyPr/>
        <a:lstStyle/>
        <a:p>
          <a:r>
            <a:rPr lang="en-US" sz="1700" dirty="0"/>
            <a:t>Japan experienced rapid industrialization and military expansion, increasing economic growth and industrial production.</a:t>
          </a:r>
        </a:p>
      </dgm:t>
    </dgm:pt>
    <dgm:pt modelId="{F68BC2B0-6879-42BC-8C8F-C20560986C35}" type="parTrans" cxnId="{AEE4D2FF-ECF3-4509-A250-D81CA616D197}">
      <dgm:prSet/>
      <dgm:spPr/>
      <dgm:t>
        <a:bodyPr/>
        <a:lstStyle/>
        <a:p>
          <a:endParaRPr lang="en-US"/>
        </a:p>
      </dgm:t>
    </dgm:pt>
    <dgm:pt modelId="{325B4429-B406-4950-93A4-75A1A0F0F995}" type="sibTrans" cxnId="{AEE4D2FF-ECF3-4509-A250-D81CA616D197}">
      <dgm:prSet/>
      <dgm:spPr/>
      <dgm:t>
        <a:bodyPr/>
        <a:lstStyle/>
        <a:p>
          <a:endParaRPr lang="en-US"/>
        </a:p>
      </dgm:t>
    </dgm:pt>
    <dgm:pt modelId="{D0B101B5-032C-4E60-9676-E8EC69AEDF10}">
      <dgm:prSet/>
      <dgm:spPr/>
      <dgm:t>
        <a:bodyPr/>
        <a:lstStyle/>
        <a:p>
          <a:pPr>
            <a:defRPr b="1"/>
          </a:pPr>
          <a:r>
            <a:rPr lang="en-US"/>
            <a:t>1939–1945</a:t>
          </a:r>
        </a:p>
      </dgm:t>
    </dgm:pt>
    <dgm:pt modelId="{0050CD43-6DB1-453B-B76C-896733395428}" type="parTrans" cxnId="{F63C9789-49D0-4251-8B73-2D70741FE86D}">
      <dgm:prSet/>
      <dgm:spPr/>
      <dgm:t>
        <a:bodyPr/>
        <a:lstStyle/>
        <a:p>
          <a:endParaRPr lang="en-US"/>
        </a:p>
      </dgm:t>
    </dgm:pt>
    <dgm:pt modelId="{96B01783-5196-4440-8B42-94ECF722474F}" type="sibTrans" cxnId="{F63C9789-49D0-4251-8B73-2D70741FE86D}">
      <dgm:prSet/>
      <dgm:spPr/>
      <dgm:t>
        <a:bodyPr/>
        <a:lstStyle/>
        <a:p>
          <a:endParaRPr lang="en-US"/>
        </a:p>
      </dgm:t>
    </dgm:pt>
    <dgm:pt modelId="{964AD6CE-D840-4DB3-AE73-B4772C035B8A}">
      <dgm:prSet/>
      <dgm:spPr/>
      <dgm:t>
        <a:bodyPr/>
        <a:lstStyle/>
        <a:p>
          <a:r>
            <a:rPr lang="en-US" dirty="0"/>
            <a:t>World War II (1939–1945): The war caused major destruction to infrastructure, industry, and civilian life, especially after the atomic bombings of Hiroshima and Nagasaki in 1945.</a:t>
          </a:r>
        </a:p>
      </dgm:t>
    </dgm:pt>
    <dgm:pt modelId="{212E761F-EA91-4DE8-9356-4785D2BA8E70}" type="parTrans" cxnId="{E4C7497E-28B0-45FD-96A0-EE327C758554}">
      <dgm:prSet/>
      <dgm:spPr/>
      <dgm:t>
        <a:bodyPr/>
        <a:lstStyle/>
        <a:p>
          <a:endParaRPr lang="en-US"/>
        </a:p>
      </dgm:t>
    </dgm:pt>
    <dgm:pt modelId="{AC78D61E-D0E6-4E9C-8D59-D4E0D0456DD2}" type="sibTrans" cxnId="{E4C7497E-28B0-45FD-96A0-EE327C758554}">
      <dgm:prSet/>
      <dgm:spPr/>
      <dgm:t>
        <a:bodyPr/>
        <a:lstStyle/>
        <a:p>
          <a:endParaRPr lang="en-US"/>
        </a:p>
      </dgm:t>
    </dgm:pt>
    <dgm:pt modelId="{6D549AC2-0900-4A6F-BE91-16B9B1E84F53}">
      <dgm:prSet/>
      <dgm:spPr/>
      <dgm:t>
        <a:bodyPr/>
        <a:lstStyle/>
        <a:p>
          <a:pPr>
            <a:defRPr b="1"/>
          </a:pPr>
          <a:r>
            <a:rPr lang="en-US"/>
            <a:t>late 1940s–1950s</a:t>
          </a:r>
        </a:p>
      </dgm:t>
    </dgm:pt>
    <dgm:pt modelId="{A3C97A1E-3AEB-4AB6-A2B4-2B74C54129AB}" type="parTrans" cxnId="{4D98D4C3-A02F-4B3F-B614-5E63866AA873}">
      <dgm:prSet/>
      <dgm:spPr/>
      <dgm:t>
        <a:bodyPr/>
        <a:lstStyle/>
        <a:p>
          <a:endParaRPr lang="en-US"/>
        </a:p>
      </dgm:t>
    </dgm:pt>
    <dgm:pt modelId="{4858C811-FB45-4A47-8FA6-C2248B0AFE73}" type="sibTrans" cxnId="{4D98D4C3-A02F-4B3F-B614-5E63866AA873}">
      <dgm:prSet/>
      <dgm:spPr/>
      <dgm:t>
        <a:bodyPr/>
        <a:lstStyle/>
        <a:p>
          <a:endParaRPr lang="en-US"/>
        </a:p>
      </dgm:t>
    </dgm:pt>
    <dgm:pt modelId="{93DB485F-A9A9-43D9-941F-DEDBD5B34446}">
      <dgm:prSet custT="1"/>
      <dgm:spPr/>
      <dgm:t>
        <a:bodyPr/>
        <a:lstStyle/>
        <a:p>
          <a:r>
            <a:rPr lang="en-US" sz="1700" dirty="0"/>
            <a:t>Post-war recovery (late 1940s–1950s): Japan rebuilt through economic reforms, industrial growth, and improvements in healthcare and living conditions.</a:t>
          </a:r>
        </a:p>
      </dgm:t>
    </dgm:pt>
    <dgm:pt modelId="{022B035F-41C4-49CF-8457-EB3A7780B80D}" type="parTrans" cxnId="{71840AF8-8154-4C14-8BE0-36B54035D69A}">
      <dgm:prSet/>
      <dgm:spPr/>
      <dgm:t>
        <a:bodyPr/>
        <a:lstStyle/>
        <a:p>
          <a:endParaRPr lang="en-US"/>
        </a:p>
      </dgm:t>
    </dgm:pt>
    <dgm:pt modelId="{D75A393A-6F18-406D-A87B-8B2C898EDD25}" type="sibTrans" cxnId="{71840AF8-8154-4C14-8BE0-36B54035D69A}">
      <dgm:prSet/>
      <dgm:spPr/>
      <dgm:t>
        <a:bodyPr/>
        <a:lstStyle/>
        <a:p>
          <a:endParaRPr lang="en-US"/>
        </a:p>
      </dgm:t>
    </dgm:pt>
    <dgm:pt modelId="{6037D2C8-3B75-4205-A88F-73F70ED36A36}">
      <dgm:prSet/>
      <dgm:spPr/>
      <dgm:t>
        <a:bodyPr/>
        <a:lstStyle/>
        <a:p>
          <a:pPr>
            <a:defRPr b="1"/>
          </a:pPr>
          <a:r>
            <a:rPr lang="en-US"/>
            <a:t>1960</a:t>
          </a:r>
        </a:p>
      </dgm:t>
    </dgm:pt>
    <dgm:pt modelId="{781EABFF-FDF3-4606-AD00-A3D35F23FA04}" type="parTrans" cxnId="{9A928EA0-9FA3-428D-941D-C21623BAB5CE}">
      <dgm:prSet/>
      <dgm:spPr/>
      <dgm:t>
        <a:bodyPr/>
        <a:lstStyle/>
        <a:p>
          <a:endParaRPr lang="en-US"/>
        </a:p>
      </dgm:t>
    </dgm:pt>
    <dgm:pt modelId="{D21C332F-11B8-475B-B881-67555394845D}" type="sibTrans" cxnId="{9A928EA0-9FA3-428D-941D-C21623BAB5CE}">
      <dgm:prSet/>
      <dgm:spPr/>
      <dgm:t>
        <a:bodyPr/>
        <a:lstStyle/>
        <a:p>
          <a:endParaRPr lang="en-US"/>
        </a:p>
      </dgm:t>
    </dgm:pt>
    <dgm:pt modelId="{838A8DD7-C96E-4A91-A0B5-FDBD7F650D08}">
      <dgm:prSet/>
      <dgm:spPr/>
      <dgm:t>
        <a:bodyPr/>
        <a:lstStyle/>
        <a:p>
          <a:r>
            <a:rPr lang="en-US" dirty="0"/>
            <a:t>By 1960: The country entered the early stage of its “economic miracle,” with rising income, longer life expectancy, and increasing industrial emissions.</a:t>
          </a:r>
        </a:p>
      </dgm:t>
    </dgm:pt>
    <dgm:pt modelId="{1E7DCA7B-5463-42E9-8CF0-7D899B7C47F3}" type="parTrans" cxnId="{E1A930AE-3993-44D5-9BC7-2CE34DAA48CE}">
      <dgm:prSet/>
      <dgm:spPr/>
      <dgm:t>
        <a:bodyPr/>
        <a:lstStyle/>
        <a:p>
          <a:endParaRPr lang="en-US"/>
        </a:p>
      </dgm:t>
    </dgm:pt>
    <dgm:pt modelId="{C3FDE74B-FC24-4AD5-B92D-8A8DF24ABE43}" type="sibTrans" cxnId="{E1A930AE-3993-44D5-9BC7-2CE34DAA48CE}">
      <dgm:prSet/>
      <dgm:spPr/>
      <dgm:t>
        <a:bodyPr/>
        <a:lstStyle/>
        <a:p>
          <a:endParaRPr lang="en-US"/>
        </a:p>
      </dgm:t>
    </dgm:pt>
    <dgm:pt modelId="{B0B4D726-CF56-4DF3-A498-C5B62CD49AB5}" type="pres">
      <dgm:prSet presAssocID="{492DDB5F-7A2E-4BCF-A0EB-CF3AEB9140DD}" presName="root" presStyleCnt="0">
        <dgm:presLayoutVars>
          <dgm:chMax/>
          <dgm:chPref/>
          <dgm:animLvl val="lvl"/>
        </dgm:presLayoutVars>
      </dgm:prSet>
      <dgm:spPr/>
    </dgm:pt>
    <dgm:pt modelId="{9F6ECC13-C6C1-48A0-B8F3-E8E6C44B3880}" type="pres">
      <dgm:prSet presAssocID="{492DDB5F-7A2E-4BCF-A0EB-CF3AEB9140DD}" presName="divider" presStyleLbl="fgAcc1" presStyleIdx="0" presStyleCnt="1"/>
      <dgm:spPr/>
    </dgm:pt>
    <dgm:pt modelId="{D87A30A5-BBDD-4A66-B258-AC4DC5F792B6}" type="pres">
      <dgm:prSet presAssocID="{492DDB5F-7A2E-4BCF-A0EB-CF3AEB9140DD}" presName="nodes" presStyleCnt="0">
        <dgm:presLayoutVars>
          <dgm:chMax/>
          <dgm:chPref/>
          <dgm:animLvl val="lvl"/>
        </dgm:presLayoutVars>
      </dgm:prSet>
      <dgm:spPr/>
    </dgm:pt>
    <dgm:pt modelId="{59056E95-99CC-4F97-B146-E700C9093551}" type="pres">
      <dgm:prSet presAssocID="{A388C761-577E-4564-ABE3-379B9EBA8906}" presName="composite" presStyleCnt="0"/>
      <dgm:spPr/>
    </dgm:pt>
    <dgm:pt modelId="{4708EA74-03C0-47F5-B908-D267B0999600}" type="pres">
      <dgm:prSet presAssocID="{A388C761-577E-4564-ABE3-379B9EBA8906}" presName="L1TextContainer" presStyleLbl="alignNode1" presStyleIdx="0" presStyleCnt="4">
        <dgm:presLayoutVars>
          <dgm:chMax val="1"/>
          <dgm:chPref val="1"/>
          <dgm:bulletEnabled val="1"/>
        </dgm:presLayoutVars>
      </dgm:prSet>
      <dgm:spPr/>
    </dgm:pt>
    <dgm:pt modelId="{5F2E9AB8-7DBF-428D-8430-3F57B80056E8}" type="pres">
      <dgm:prSet presAssocID="{A388C761-577E-4564-ABE3-379B9EBA8906}" presName="L2TextContainerWrapper" presStyleCnt="0">
        <dgm:presLayoutVars>
          <dgm:bulletEnabled val="1"/>
        </dgm:presLayoutVars>
      </dgm:prSet>
      <dgm:spPr/>
    </dgm:pt>
    <dgm:pt modelId="{03E639B9-D12E-4C36-82D4-AC8CEEDD855A}" type="pres">
      <dgm:prSet presAssocID="{A388C761-577E-4564-ABE3-379B9EBA8906}" presName="L2TextContainer" presStyleLbl="bgAccFollowNode1" presStyleIdx="0" presStyleCnt="4"/>
      <dgm:spPr/>
    </dgm:pt>
    <dgm:pt modelId="{676E9501-7D02-4864-9A33-986842CAEA1F}" type="pres">
      <dgm:prSet presAssocID="{A388C761-577E-4564-ABE3-379B9EBA8906}" presName="FlexibleEmptyPlaceHolder" presStyleCnt="0"/>
      <dgm:spPr/>
    </dgm:pt>
    <dgm:pt modelId="{F2517C51-5368-41E9-AEA1-4631FEA9DD84}" type="pres">
      <dgm:prSet presAssocID="{A388C761-577E-4564-ABE3-379B9EBA8906}" presName="ConnectLine" presStyleLbl="sibTrans1D1" presStyleIdx="0" presStyleCnt="4"/>
      <dgm:spPr/>
    </dgm:pt>
    <dgm:pt modelId="{97A92CE1-5928-4666-9818-02C382D5859E}" type="pres">
      <dgm:prSet presAssocID="{A388C761-577E-4564-ABE3-379B9EBA8906}" presName="ConnectorPoint" presStyleLbl="node1" presStyleIdx="0"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12137E6E-F2A0-4F99-A8D7-8C1943BA1DF2}" type="pres">
      <dgm:prSet presAssocID="{A388C761-577E-4564-ABE3-379B9EBA8906}" presName="EmptyPlaceHolder" presStyleCnt="0"/>
      <dgm:spPr/>
    </dgm:pt>
    <dgm:pt modelId="{2943FDC4-0568-4A74-8B0D-EE51B294130B}" type="pres">
      <dgm:prSet presAssocID="{6982FA89-32BC-45BD-B87A-E61B35AE9330}" presName="spaceBetweenRectangles" presStyleCnt="0"/>
      <dgm:spPr/>
    </dgm:pt>
    <dgm:pt modelId="{DDBC079D-1BD5-4212-B5B5-B903D0695CF0}" type="pres">
      <dgm:prSet presAssocID="{D0B101B5-032C-4E60-9676-E8EC69AEDF10}" presName="composite" presStyleCnt="0"/>
      <dgm:spPr/>
    </dgm:pt>
    <dgm:pt modelId="{D5C2B73B-31A1-4FC5-ABA9-89AF023AC4E6}" type="pres">
      <dgm:prSet presAssocID="{D0B101B5-032C-4E60-9676-E8EC69AEDF10}" presName="L1TextContainer" presStyleLbl="alignNode1" presStyleIdx="1" presStyleCnt="4">
        <dgm:presLayoutVars>
          <dgm:chMax val="1"/>
          <dgm:chPref val="1"/>
          <dgm:bulletEnabled val="1"/>
        </dgm:presLayoutVars>
      </dgm:prSet>
      <dgm:spPr/>
    </dgm:pt>
    <dgm:pt modelId="{90228BCB-9C04-4E2A-9D30-9B2AB3897D7F}" type="pres">
      <dgm:prSet presAssocID="{D0B101B5-032C-4E60-9676-E8EC69AEDF10}" presName="L2TextContainerWrapper" presStyleCnt="0">
        <dgm:presLayoutVars>
          <dgm:bulletEnabled val="1"/>
        </dgm:presLayoutVars>
      </dgm:prSet>
      <dgm:spPr/>
    </dgm:pt>
    <dgm:pt modelId="{A8176985-6C08-42F0-902E-62960DF6238A}" type="pres">
      <dgm:prSet presAssocID="{D0B101B5-032C-4E60-9676-E8EC69AEDF10}" presName="L2TextContainer" presStyleLbl="bgAccFollowNode1" presStyleIdx="1" presStyleCnt="4"/>
      <dgm:spPr/>
    </dgm:pt>
    <dgm:pt modelId="{74154882-BEDC-48AC-BBFB-240FFA9F9DBD}" type="pres">
      <dgm:prSet presAssocID="{D0B101B5-032C-4E60-9676-E8EC69AEDF10}" presName="FlexibleEmptyPlaceHolder" presStyleCnt="0"/>
      <dgm:spPr/>
    </dgm:pt>
    <dgm:pt modelId="{7C9C6B84-0DFE-4888-B6B0-E5AB157BE677}" type="pres">
      <dgm:prSet presAssocID="{D0B101B5-032C-4E60-9676-E8EC69AEDF10}" presName="ConnectLine" presStyleLbl="sibTrans1D1" presStyleIdx="1" presStyleCnt="4"/>
      <dgm:spPr/>
    </dgm:pt>
    <dgm:pt modelId="{3F15B29C-BC16-41A9-B27E-106B70D75ADA}" type="pres">
      <dgm:prSet presAssocID="{D0B101B5-032C-4E60-9676-E8EC69AEDF10}" presName="ConnectorPoint" presStyleLbl="node1" presStyleIdx="1"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371BCE7D-D25B-4BA5-922D-7D9BC496ACCB}" type="pres">
      <dgm:prSet presAssocID="{D0B101B5-032C-4E60-9676-E8EC69AEDF10}" presName="EmptyPlaceHolder" presStyleCnt="0"/>
      <dgm:spPr/>
    </dgm:pt>
    <dgm:pt modelId="{AFBFA689-9722-48F9-8F6F-69591355A828}" type="pres">
      <dgm:prSet presAssocID="{96B01783-5196-4440-8B42-94ECF722474F}" presName="spaceBetweenRectangles" presStyleCnt="0"/>
      <dgm:spPr/>
    </dgm:pt>
    <dgm:pt modelId="{0462A7D9-3220-4A0B-B447-9CEA312DE2A5}" type="pres">
      <dgm:prSet presAssocID="{6D549AC2-0900-4A6F-BE91-16B9B1E84F53}" presName="composite" presStyleCnt="0"/>
      <dgm:spPr/>
    </dgm:pt>
    <dgm:pt modelId="{8B6E433B-3D24-483A-8395-3BD4A2321D03}" type="pres">
      <dgm:prSet presAssocID="{6D549AC2-0900-4A6F-BE91-16B9B1E84F53}" presName="L1TextContainer" presStyleLbl="alignNode1" presStyleIdx="2" presStyleCnt="4">
        <dgm:presLayoutVars>
          <dgm:chMax val="1"/>
          <dgm:chPref val="1"/>
          <dgm:bulletEnabled val="1"/>
        </dgm:presLayoutVars>
      </dgm:prSet>
      <dgm:spPr/>
    </dgm:pt>
    <dgm:pt modelId="{0A8BC4BE-5DD6-40D5-AA25-A546735BD154}" type="pres">
      <dgm:prSet presAssocID="{6D549AC2-0900-4A6F-BE91-16B9B1E84F53}" presName="L2TextContainerWrapper" presStyleCnt="0">
        <dgm:presLayoutVars>
          <dgm:bulletEnabled val="1"/>
        </dgm:presLayoutVars>
      </dgm:prSet>
      <dgm:spPr/>
    </dgm:pt>
    <dgm:pt modelId="{3472359F-57E9-490F-B5A9-A93CE2451349}" type="pres">
      <dgm:prSet presAssocID="{6D549AC2-0900-4A6F-BE91-16B9B1E84F53}" presName="L2TextContainer" presStyleLbl="bgAccFollowNode1" presStyleIdx="2" presStyleCnt="4"/>
      <dgm:spPr/>
    </dgm:pt>
    <dgm:pt modelId="{CB05A22D-7491-415A-80EE-B357C8DAC104}" type="pres">
      <dgm:prSet presAssocID="{6D549AC2-0900-4A6F-BE91-16B9B1E84F53}" presName="FlexibleEmptyPlaceHolder" presStyleCnt="0"/>
      <dgm:spPr/>
    </dgm:pt>
    <dgm:pt modelId="{46466F05-3A10-44D7-985F-451E63356C88}" type="pres">
      <dgm:prSet presAssocID="{6D549AC2-0900-4A6F-BE91-16B9B1E84F53}" presName="ConnectLine" presStyleLbl="sibTrans1D1" presStyleIdx="2" presStyleCnt="4"/>
      <dgm:spPr/>
    </dgm:pt>
    <dgm:pt modelId="{7DE4F657-5ED0-4E5C-AC91-A1DFFFE0D026}" type="pres">
      <dgm:prSet presAssocID="{6D549AC2-0900-4A6F-BE91-16B9B1E84F53}" presName="ConnectorPoint" presStyleLbl="node1" presStyleIdx="2"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2BDB850C-CCC7-4DED-8BE7-E9A308AA408A}" type="pres">
      <dgm:prSet presAssocID="{6D549AC2-0900-4A6F-BE91-16B9B1E84F53}" presName="EmptyPlaceHolder" presStyleCnt="0"/>
      <dgm:spPr/>
    </dgm:pt>
    <dgm:pt modelId="{1B5E7157-060E-4F2F-A0BE-94A48252DAD6}" type="pres">
      <dgm:prSet presAssocID="{4858C811-FB45-4A47-8FA6-C2248B0AFE73}" presName="spaceBetweenRectangles" presStyleCnt="0"/>
      <dgm:spPr/>
    </dgm:pt>
    <dgm:pt modelId="{476275E6-A9D7-4D28-B51F-5DAA77466955}" type="pres">
      <dgm:prSet presAssocID="{6037D2C8-3B75-4205-A88F-73F70ED36A36}" presName="composite" presStyleCnt="0"/>
      <dgm:spPr/>
    </dgm:pt>
    <dgm:pt modelId="{E9990E36-6091-475F-B5CB-3C4B39299A8E}" type="pres">
      <dgm:prSet presAssocID="{6037D2C8-3B75-4205-A88F-73F70ED36A36}" presName="L1TextContainer" presStyleLbl="alignNode1" presStyleIdx="3" presStyleCnt="4">
        <dgm:presLayoutVars>
          <dgm:chMax val="1"/>
          <dgm:chPref val="1"/>
          <dgm:bulletEnabled val="1"/>
        </dgm:presLayoutVars>
      </dgm:prSet>
      <dgm:spPr/>
    </dgm:pt>
    <dgm:pt modelId="{F10C0648-3485-4E07-8F92-7814CA71A601}" type="pres">
      <dgm:prSet presAssocID="{6037D2C8-3B75-4205-A88F-73F70ED36A36}" presName="L2TextContainerWrapper" presStyleCnt="0">
        <dgm:presLayoutVars>
          <dgm:bulletEnabled val="1"/>
        </dgm:presLayoutVars>
      </dgm:prSet>
      <dgm:spPr/>
    </dgm:pt>
    <dgm:pt modelId="{62795BE3-4B3B-4620-AB1C-D3A4103BD43B}" type="pres">
      <dgm:prSet presAssocID="{6037D2C8-3B75-4205-A88F-73F70ED36A36}" presName="L2TextContainer" presStyleLbl="bgAccFollowNode1" presStyleIdx="3" presStyleCnt="4"/>
      <dgm:spPr/>
    </dgm:pt>
    <dgm:pt modelId="{35B0D797-86AB-4AE4-95F8-BA7925191E81}" type="pres">
      <dgm:prSet presAssocID="{6037D2C8-3B75-4205-A88F-73F70ED36A36}" presName="FlexibleEmptyPlaceHolder" presStyleCnt="0"/>
      <dgm:spPr/>
    </dgm:pt>
    <dgm:pt modelId="{8DEBC60E-5047-40E9-90E0-6ADA17316A6F}" type="pres">
      <dgm:prSet presAssocID="{6037D2C8-3B75-4205-A88F-73F70ED36A36}" presName="ConnectLine" presStyleLbl="sibTrans1D1" presStyleIdx="3" presStyleCnt="4"/>
      <dgm:spPr/>
    </dgm:pt>
    <dgm:pt modelId="{A2F2CCFC-E916-4322-B16E-53E3938062B7}" type="pres">
      <dgm:prSet presAssocID="{6037D2C8-3B75-4205-A88F-73F70ED36A36}" presName="ConnectorPoint" presStyleLbl="node1" presStyleIdx="3"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400BCE4C-B010-4F88-9816-763ECF1F2AAA}" type="pres">
      <dgm:prSet presAssocID="{6037D2C8-3B75-4205-A88F-73F70ED36A36}" presName="EmptyPlaceHolder" presStyleCnt="0"/>
      <dgm:spPr/>
    </dgm:pt>
  </dgm:ptLst>
  <dgm:cxnLst>
    <dgm:cxn modelId="{F8844016-AF64-4F04-BB9D-6450A986F548}" type="presOf" srcId="{93DB485F-A9A9-43D9-941F-DEDBD5B34446}" destId="{3472359F-57E9-490F-B5A9-A93CE2451349}" srcOrd="0" destOrd="0" presId="urn:microsoft.com/office/officeart/2017/3/layout/HorizontalLabelsTimeline"/>
    <dgm:cxn modelId="{04F36225-1D35-422A-807A-238A2AEB0611}" type="presOf" srcId="{838A8DD7-C96E-4A91-A0B5-FDBD7F650D08}" destId="{62795BE3-4B3B-4620-AB1C-D3A4103BD43B}" srcOrd="0" destOrd="0" presId="urn:microsoft.com/office/officeart/2017/3/layout/HorizontalLabelsTimeline"/>
    <dgm:cxn modelId="{F4C4F630-6DCF-4171-BFAF-8994F98C23D2}" type="presOf" srcId="{6037D2C8-3B75-4205-A88F-73F70ED36A36}" destId="{E9990E36-6091-475F-B5CB-3C4B39299A8E}" srcOrd="0" destOrd="0" presId="urn:microsoft.com/office/officeart/2017/3/layout/HorizontalLabelsTimeline"/>
    <dgm:cxn modelId="{E05FCF38-F392-4034-A0A7-3830A5CC3D76}" srcId="{492DDB5F-7A2E-4BCF-A0EB-CF3AEB9140DD}" destId="{A388C761-577E-4564-ABE3-379B9EBA8906}" srcOrd="0" destOrd="0" parTransId="{0F152909-471B-4D04-BA5B-A303F8BA14CC}" sibTransId="{6982FA89-32BC-45BD-B87A-E61B35AE9330}"/>
    <dgm:cxn modelId="{4739BC62-D140-4CA8-AF20-388ACD7597CE}" type="presOf" srcId="{D0B101B5-032C-4E60-9676-E8EC69AEDF10}" destId="{D5C2B73B-31A1-4FC5-ABA9-89AF023AC4E6}" srcOrd="0" destOrd="0" presId="urn:microsoft.com/office/officeart/2017/3/layout/HorizontalLabelsTimeline"/>
    <dgm:cxn modelId="{581B4A6B-D716-4CBE-9809-1B3A23A19B3F}" type="presOf" srcId="{964AD6CE-D840-4DB3-AE73-B4772C035B8A}" destId="{A8176985-6C08-42F0-902E-62960DF6238A}" srcOrd="0" destOrd="0" presId="urn:microsoft.com/office/officeart/2017/3/layout/HorizontalLabelsTimeline"/>
    <dgm:cxn modelId="{E4C7497E-28B0-45FD-96A0-EE327C758554}" srcId="{D0B101B5-032C-4E60-9676-E8EC69AEDF10}" destId="{964AD6CE-D840-4DB3-AE73-B4772C035B8A}" srcOrd="0" destOrd="0" parTransId="{212E761F-EA91-4DE8-9356-4785D2BA8E70}" sibTransId="{AC78D61E-D0E6-4E9C-8D59-D4E0D0456DD2}"/>
    <dgm:cxn modelId="{F63C9789-49D0-4251-8B73-2D70741FE86D}" srcId="{492DDB5F-7A2E-4BCF-A0EB-CF3AEB9140DD}" destId="{D0B101B5-032C-4E60-9676-E8EC69AEDF10}" srcOrd="1" destOrd="0" parTransId="{0050CD43-6DB1-453B-B76C-896733395428}" sibTransId="{96B01783-5196-4440-8B42-94ECF722474F}"/>
    <dgm:cxn modelId="{9A928EA0-9FA3-428D-941D-C21623BAB5CE}" srcId="{492DDB5F-7A2E-4BCF-A0EB-CF3AEB9140DD}" destId="{6037D2C8-3B75-4205-A88F-73F70ED36A36}" srcOrd="3" destOrd="0" parTransId="{781EABFF-FDF3-4606-AD00-A3D35F23FA04}" sibTransId="{D21C332F-11B8-475B-B881-67555394845D}"/>
    <dgm:cxn modelId="{593786A2-37E4-4FB7-94C1-697881E6D192}" type="presOf" srcId="{4B45EAD6-4906-41CF-A983-7141BEE63F74}" destId="{03E639B9-D12E-4C36-82D4-AC8CEEDD855A}" srcOrd="0" destOrd="0" presId="urn:microsoft.com/office/officeart/2017/3/layout/HorizontalLabelsTimeline"/>
    <dgm:cxn modelId="{93C01FAD-1002-4182-9CD4-4B4EE1677EBB}" type="presOf" srcId="{6D549AC2-0900-4A6F-BE91-16B9B1E84F53}" destId="{8B6E433B-3D24-483A-8395-3BD4A2321D03}" srcOrd="0" destOrd="0" presId="urn:microsoft.com/office/officeart/2017/3/layout/HorizontalLabelsTimeline"/>
    <dgm:cxn modelId="{E1A930AE-3993-44D5-9BC7-2CE34DAA48CE}" srcId="{6037D2C8-3B75-4205-A88F-73F70ED36A36}" destId="{838A8DD7-C96E-4A91-A0B5-FDBD7F650D08}" srcOrd="0" destOrd="0" parTransId="{1E7DCA7B-5463-42E9-8CF0-7D899B7C47F3}" sibTransId="{C3FDE74B-FC24-4AD5-B92D-8A8DF24ABE43}"/>
    <dgm:cxn modelId="{69AB1EAF-16F4-4B58-BC50-32162EAD1CC3}" type="presOf" srcId="{492DDB5F-7A2E-4BCF-A0EB-CF3AEB9140DD}" destId="{B0B4D726-CF56-4DF3-A498-C5B62CD49AB5}" srcOrd="0" destOrd="0" presId="urn:microsoft.com/office/officeart/2017/3/layout/HorizontalLabelsTimeline"/>
    <dgm:cxn modelId="{CE87BABA-A71B-4622-825B-7DAF67317F91}" type="presOf" srcId="{A388C761-577E-4564-ABE3-379B9EBA8906}" destId="{4708EA74-03C0-47F5-B908-D267B0999600}" srcOrd="0" destOrd="0" presId="urn:microsoft.com/office/officeart/2017/3/layout/HorizontalLabelsTimeline"/>
    <dgm:cxn modelId="{4D98D4C3-A02F-4B3F-B614-5E63866AA873}" srcId="{492DDB5F-7A2E-4BCF-A0EB-CF3AEB9140DD}" destId="{6D549AC2-0900-4A6F-BE91-16B9B1E84F53}" srcOrd="2" destOrd="0" parTransId="{A3C97A1E-3AEB-4AB6-A2B4-2B74C54129AB}" sibTransId="{4858C811-FB45-4A47-8FA6-C2248B0AFE73}"/>
    <dgm:cxn modelId="{71840AF8-8154-4C14-8BE0-36B54035D69A}" srcId="{6D549AC2-0900-4A6F-BE91-16B9B1E84F53}" destId="{93DB485F-A9A9-43D9-941F-DEDBD5B34446}" srcOrd="0" destOrd="0" parTransId="{022B035F-41C4-49CF-8457-EB3A7780B80D}" sibTransId="{D75A393A-6F18-406D-A87B-8B2C898EDD25}"/>
    <dgm:cxn modelId="{AEE4D2FF-ECF3-4509-A250-D81CA616D197}" srcId="{A388C761-577E-4564-ABE3-379B9EBA8906}" destId="{4B45EAD6-4906-41CF-A983-7141BEE63F74}" srcOrd="0" destOrd="0" parTransId="{F68BC2B0-6879-42BC-8C8F-C20560986C35}" sibTransId="{325B4429-B406-4950-93A4-75A1A0F0F995}"/>
    <dgm:cxn modelId="{9D2B22AF-48BF-49BB-8E3B-6FB841E2C7CE}" type="presParOf" srcId="{B0B4D726-CF56-4DF3-A498-C5B62CD49AB5}" destId="{9F6ECC13-C6C1-48A0-B8F3-E8E6C44B3880}" srcOrd="0" destOrd="0" presId="urn:microsoft.com/office/officeart/2017/3/layout/HorizontalLabelsTimeline"/>
    <dgm:cxn modelId="{66457B58-9441-41F4-8705-B5B163C47EEC}" type="presParOf" srcId="{B0B4D726-CF56-4DF3-A498-C5B62CD49AB5}" destId="{D87A30A5-BBDD-4A66-B258-AC4DC5F792B6}" srcOrd="1" destOrd="0" presId="urn:microsoft.com/office/officeart/2017/3/layout/HorizontalLabelsTimeline"/>
    <dgm:cxn modelId="{58DFA6A1-7EA8-4211-9164-BBCF3C92EBAF}" type="presParOf" srcId="{D87A30A5-BBDD-4A66-B258-AC4DC5F792B6}" destId="{59056E95-99CC-4F97-B146-E700C9093551}" srcOrd="0" destOrd="0" presId="urn:microsoft.com/office/officeart/2017/3/layout/HorizontalLabelsTimeline"/>
    <dgm:cxn modelId="{7CFC78ED-0981-4D5E-B1C0-905E47F3B4EA}" type="presParOf" srcId="{59056E95-99CC-4F97-B146-E700C9093551}" destId="{4708EA74-03C0-47F5-B908-D267B0999600}" srcOrd="0" destOrd="0" presId="urn:microsoft.com/office/officeart/2017/3/layout/HorizontalLabelsTimeline"/>
    <dgm:cxn modelId="{1E2C456C-9CC8-4E4B-8D0C-E46133E0C0F0}" type="presParOf" srcId="{59056E95-99CC-4F97-B146-E700C9093551}" destId="{5F2E9AB8-7DBF-428D-8430-3F57B80056E8}" srcOrd="1" destOrd="0" presId="urn:microsoft.com/office/officeart/2017/3/layout/HorizontalLabelsTimeline"/>
    <dgm:cxn modelId="{BF2F1BCF-1065-459E-B3CD-F932BA960463}" type="presParOf" srcId="{5F2E9AB8-7DBF-428D-8430-3F57B80056E8}" destId="{03E639B9-D12E-4C36-82D4-AC8CEEDD855A}" srcOrd="0" destOrd="0" presId="urn:microsoft.com/office/officeart/2017/3/layout/HorizontalLabelsTimeline"/>
    <dgm:cxn modelId="{893CF69F-9B3A-4351-85CE-E6AFA9D95433}" type="presParOf" srcId="{5F2E9AB8-7DBF-428D-8430-3F57B80056E8}" destId="{676E9501-7D02-4864-9A33-986842CAEA1F}" srcOrd="1" destOrd="0" presId="urn:microsoft.com/office/officeart/2017/3/layout/HorizontalLabelsTimeline"/>
    <dgm:cxn modelId="{CBB0A48B-F778-4FFA-BD36-49F41EB58410}" type="presParOf" srcId="{59056E95-99CC-4F97-B146-E700C9093551}" destId="{F2517C51-5368-41E9-AEA1-4631FEA9DD84}" srcOrd="2" destOrd="0" presId="urn:microsoft.com/office/officeart/2017/3/layout/HorizontalLabelsTimeline"/>
    <dgm:cxn modelId="{0C2A79D4-9BD7-40AC-80A2-1DCD66AA196C}" type="presParOf" srcId="{59056E95-99CC-4F97-B146-E700C9093551}" destId="{97A92CE1-5928-4666-9818-02C382D5859E}" srcOrd="3" destOrd="0" presId="urn:microsoft.com/office/officeart/2017/3/layout/HorizontalLabelsTimeline"/>
    <dgm:cxn modelId="{AAAAC403-280B-41E0-B7D8-010E2B83559B}" type="presParOf" srcId="{59056E95-99CC-4F97-B146-E700C9093551}" destId="{12137E6E-F2A0-4F99-A8D7-8C1943BA1DF2}" srcOrd="4" destOrd="0" presId="urn:microsoft.com/office/officeart/2017/3/layout/HorizontalLabelsTimeline"/>
    <dgm:cxn modelId="{1A5EACD9-64B4-4311-BC54-192995BF47C1}" type="presParOf" srcId="{D87A30A5-BBDD-4A66-B258-AC4DC5F792B6}" destId="{2943FDC4-0568-4A74-8B0D-EE51B294130B}" srcOrd="1" destOrd="0" presId="urn:microsoft.com/office/officeart/2017/3/layout/HorizontalLabelsTimeline"/>
    <dgm:cxn modelId="{A8646506-8D94-456D-83BA-387E367D974A}" type="presParOf" srcId="{D87A30A5-BBDD-4A66-B258-AC4DC5F792B6}" destId="{DDBC079D-1BD5-4212-B5B5-B903D0695CF0}" srcOrd="2" destOrd="0" presId="urn:microsoft.com/office/officeart/2017/3/layout/HorizontalLabelsTimeline"/>
    <dgm:cxn modelId="{4D77CC62-D55C-4FD3-8327-138CC239299F}" type="presParOf" srcId="{DDBC079D-1BD5-4212-B5B5-B903D0695CF0}" destId="{D5C2B73B-31A1-4FC5-ABA9-89AF023AC4E6}" srcOrd="0" destOrd="0" presId="urn:microsoft.com/office/officeart/2017/3/layout/HorizontalLabelsTimeline"/>
    <dgm:cxn modelId="{F91CB9DD-F040-4BC4-ABFC-7433485366BE}" type="presParOf" srcId="{DDBC079D-1BD5-4212-B5B5-B903D0695CF0}" destId="{90228BCB-9C04-4E2A-9D30-9B2AB3897D7F}" srcOrd="1" destOrd="0" presId="urn:microsoft.com/office/officeart/2017/3/layout/HorizontalLabelsTimeline"/>
    <dgm:cxn modelId="{9A20A9B7-1EC8-49C2-98E7-1F755A97B703}" type="presParOf" srcId="{90228BCB-9C04-4E2A-9D30-9B2AB3897D7F}" destId="{A8176985-6C08-42F0-902E-62960DF6238A}" srcOrd="0" destOrd="0" presId="urn:microsoft.com/office/officeart/2017/3/layout/HorizontalLabelsTimeline"/>
    <dgm:cxn modelId="{7C162536-616B-41CE-AC4D-7B4F0714BD58}" type="presParOf" srcId="{90228BCB-9C04-4E2A-9D30-9B2AB3897D7F}" destId="{74154882-BEDC-48AC-BBFB-240FFA9F9DBD}" srcOrd="1" destOrd="0" presId="urn:microsoft.com/office/officeart/2017/3/layout/HorizontalLabelsTimeline"/>
    <dgm:cxn modelId="{C5BD6181-58DD-4E90-963E-73C0BADA1045}" type="presParOf" srcId="{DDBC079D-1BD5-4212-B5B5-B903D0695CF0}" destId="{7C9C6B84-0DFE-4888-B6B0-E5AB157BE677}" srcOrd="2" destOrd="0" presId="urn:microsoft.com/office/officeart/2017/3/layout/HorizontalLabelsTimeline"/>
    <dgm:cxn modelId="{47383B5C-CF72-4C0B-865E-E2E4821C94CC}" type="presParOf" srcId="{DDBC079D-1BD5-4212-B5B5-B903D0695CF0}" destId="{3F15B29C-BC16-41A9-B27E-106B70D75ADA}" srcOrd="3" destOrd="0" presId="urn:microsoft.com/office/officeart/2017/3/layout/HorizontalLabelsTimeline"/>
    <dgm:cxn modelId="{0C6F3C90-07E1-40C5-A433-48E6200EFA0B}" type="presParOf" srcId="{DDBC079D-1BD5-4212-B5B5-B903D0695CF0}" destId="{371BCE7D-D25B-4BA5-922D-7D9BC496ACCB}" srcOrd="4" destOrd="0" presId="urn:microsoft.com/office/officeart/2017/3/layout/HorizontalLabelsTimeline"/>
    <dgm:cxn modelId="{DA17799B-69A9-4487-B6B5-C82C5AFE1D52}" type="presParOf" srcId="{D87A30A5-BBDD-4A66-B258-AC4DC5F792B6}" destId="{AFBFA689-9722-48F9-8F6F-69591355A828}" srcOrd="3" destOrd="0" presId="urn:microsoft.com/office/officeart/2017/3/layout/HorizontalLabelsTimeline"/>
    <dgm:cxn modelId="{D21DDECA-C47C-40A9-A7C7-18521823C405}" type="presParOf" srcId="{D87A30A5-BBDD-4A66-B258-AC4DC5F792B6}" destId="{0462A7D9-3220-4A0B-B447-9CEA312DE2A5}" srcOrd="4" destOrd="0" presId="urn:microsoft.com/office/officeart/2017/3/layout/HorizontalLabelsTimeline"/>
    <dgm:cxn modelId="{72655F2B-A9CE-4EEA-AEE1-C1D3E0A5E5C0}" type="presParOf" srcId="{0462A7D9-3220-4A0B-B447-9CEA312DE2A5}" destId="{8B6E433B-3D24-483A-8395-3BD4A2321D03}" srcOrd="0" destOrd="0" presId="urn:microsoft.com/office/officeart/2017/3/layout/HorizontalLabelsTimeline"/>
    <dgm:cxn modelId="{FD8E0B82-3715-4DF3-B36F-E93F23DAA089}" type="presParOf" srcId="{0462A7D9-3220-4A0B-B447-9CEA312DE2A5}" destId="{0A8BC4BE-5DD6-40D5-AA25-A546735BD154}" srcOrd="1" destOrd="0" presId="urn:microsoft.com/office/officeart/2017/3/layout/HorizontalLabelsTimeline"/>
    <dgm:cxn modelId="{2BD219B0-F5CB-44A0-863B-9E0E31507E35}" type="presParOf" srcId="{0A8BC4BE-5DD6-40D5-AA25-A546735BD154}" destId="{3472359F-57E9-490F-B5A9-A93CE2451349}" srcOrd="0" destOrd="0" presId="urn:microsoft.com/office/officeart/2017/3/layout/HorizontalLabelsTimeline"/>
    <dgm:cxn modelId="{89649611-0120-444C-B6D5-8421A18B038A}" type="presParOf" srcId="{0A8BC4BE-5DD6-40D5-AA25-A546735BD154}" destId="{CB05A22D-7491-415A-80EE-B357C8DAC104}" srcOrd="1" destOrd="0" presId="urn:microsoft.com/office/officeart/2017/3/layout/HorizontalLabelsTimeline"/>
    <dgm:cxn modelId="{4AFBDF4F-E057-43FE-ADEE-E4A22743A5AB}" type="presParOf" srcId="{0462A7D9-3220-4A0B-B447-9CEA312DE2A5}" destId="{46466F05-3A10-44D7-985F-451E63356C88}" srcOrd="2" destOrd="0" presId="urn:microsoft.com/office/officeart/2017/3/layout/HorizontalLabelsTimeline"/>
    <dgm:cxn modelId="{51957AED-9A04-4052-B3E1-3CDED2593029}" type="presParOf" srcId="{0462A7D9-3220-4A0B-B447-9CEA312DE2A5}" destId="{7DE4F657-5ED0-4E5C-AC91-A1DFFFE0D026}" srcOrd="3" destOrd="0" presId="urn:microsoft.com/office/officeart/2017/3/layout/HorizontalLabelsTimeline"/>
    <dgm:cxn modelId="{3E4237F3-4660-4FF5-B6F9-4BAF57BA5C8E}" type="presParOf" srcId="{0462A7D9-3220-4A0B-B447-9CEA312DE2A5}" destId="{2BDB850C-CCC7-4DED-8BE7-E9A308AA408A}" srcOrd="4" destOrd="0" presId="urn:microsoft.com/office/officeart/2017/3/layout/HorizontalLabelsTimeline"/>
    <dgm:cxn modelId="{3C133853-4366-432E-8379-4C2216196006}" type="presParOf" srcId="{D87A30A5-BBDD-4A66-B258-AC4DC5F792B6}" destId="{1B5E7157-060E-4F2F-A0BE-94A48252DAD6}" srcOrd="5" destOrd="0" presId="urn:microsoft.com/office/officeart/2017/3/layout/HorizontalLabelsTimeline"/>
    <dgm:cxn modelId="{B1BE032A-5FDB-44C6-9C70-4ABD52A44415}" type="presParOf" srcId="{D87A30A5-BBDD-4A66-B258-AC4DC5F792B6}" destId="{476275E6-A9D7-4D28-B51F-5DAA77466955}" srcOrd="6" destOrd="0" presId="urn:microsoft.com/office/officeart/2017/3/layout/HorizontalLabelsTimeline"/>
    <dgm:cxn modelId="{FCA8F5FC-F80B-4ADB-9E96-7FD5C4EE5E4B}" type="presParOf" srcId="{476275E6-A9D7-4D28-B51F-5DAA77466955}" destId="{E9990E36-6091-475F-B5CB-3C4B39299A8E}" srcOrd="0" destOrd="0" presId="urn:microsoft.com/office/officeart/2017/3/layout/HorizontalLabelsTimeline"/>
    <dgm:cxn modelId="{D6866E56-A25B-428D-AAFC-0EB3E4056C37}" type="presParOf" srcId="{476275E6-A9D7-4D28-B51F-5DAA77466955}" destId="{F10C0648-3485-4E07-8F92-7814CA71A601}" srcOrd="1" destOrd="0" presId="urn:microsoft.com/office/officeart/2017/3/layout/HorizontalLabelsTimeline"/>
    <dgm:cxn modelId="{7300B5D7-E3DB-4CA8-A3E2-4F10DE0F5A7D}" type="presParOf" srcId="{F10C0648-3485-4E07-8F92-7814CA71A601}" destId="{62795BE3-4B3B-4620-AB1C-D3A4103BD43B}" srcOrd="0" destOrd="0" presId="urn:microsoft.com/office/officeart/2017/3/layout/HorizontalLabelsTimeline"/>
    <dgm:cxn modelId="{1F1B8E8B-401E-44ED-A03A-F10EDB9FD552}" type="presParOf" srcId="{F10C0648-3485-4E07-8F92-7814CA71A601}" destId="{35B0D797-86AB-4AE4-95F8-BA7925191E81}" srcOrd="1" destOrd="0" presId="urn:microsoft.com/office/officeart/2017/3/layout/HorizontalLabelsTimeline"/>
    <dgm:cxn modelId="{3E8D46BB-D468-4566-A299-7E131F382FC9}" type="presParOf" srcId="{476275E6-A9D7-4D28-B51F-5DAA77466955}" destId="{8DEBC60E-5047-40E9-90E0-6ADA17316A6F}" srcOrd="2" destOrd="0" presId="urn:microsoft.com/office/officeart/2017/3/layout/HorizontalLabelsTimeline"/>
    <dgm:cxn modelId="{EB299C79-7FD9-4382-A2EE-97D3CCF1BF16}" type="presParOf" srcId="{476275E6-A9D7-4D28-B51F-5DAA77466955}" destId="{A2F2CCFC-E916-4322-B16E-53E3938062B7}" srcOrd="3" destOrd="0" presId="urn:microsoft.com/office/officeart/2017/3/layout/HorizontalLabelsTimeline"/>
    <dgm:cxn modelId="{643FD606-2AA3-4E30-97B0-00A234CEF96E}" type="presParOf" srcId="{476275E6-A9D7-4D28-B51F-5DAA77466955}" destId="{400BCE4C-B010-4F88-9816-763ECF1F2AAA}"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F051D4-02F0-449C-A410-58E108F9F0BF}" type="doc">
      <dgm:prSet loTypeId="urn:microsoft.com/office/officeart/2017/3/layout/HorizontalLabelsTimeline" loCatId="process" qsTypeId="urn:microsoft.com/office/officeart/2005/8/quickstyle/simple1" qsCatId="simple" csTypeId="urn:microsoft.com/office/officeart/2005/8/colors/accent1_2" csCatId="accent1" phldr="1"/>
      <dgm:spPr/>
      <dgm:t>
        <a:bodyPr/>
        <a:lstStyle/>
        <a:p>
          <a:endParaRPr lang="en-US"/>
        </a:p>
      </dgm:t>
    </dgm:pt>
    <dgm:pt modelId="{9FEF9B3A-B473-4DCE-9B0E-DE50D9064B01}">
      <dgm:prSet/>
      <dgm:spPr/>
      <dgm:t>
        <a:bodyPr/>
        <a:lstStyle/>
        <a:p>
          <a:pPr>
            <a:defRPr b="1"/>
          </a:pPr>
          <a:r>
            <a:rPr lang="en-US"/>
            <a:t>Late 1920s–1930s</a:t>
          </a:r>
        </a:p>
      </dgm:t>
    </dgm:pt>
    <dgm:pt modelId="{1D1DCDDF-905D-4650-9A06-BB0E8ED759A4}" type="parTrans" cxnId="{542EE49B-DDDA-4013-A5EC-29ECA5C890C1}">
      <dgm:prSet/>
      <dgm:spPr/>
      <dgm:t>
        <a:bodyPr/>
        <a:lstStyle/>
        <a:p>
          <a:endParaRPr lang="en-US"/>
        </a:p>
      </dgm:t>
    </dgm:pt>
    <dgm:pt modelId="{1CF21395-C676-4DD2-AC34-8748930C0C87}" type="sibTrans" cxnId="{542EE49B-DDDA-4013-A5EC-29ECA5C890C1}">
      <dgm:prSet/>
      <dgm:spPr/>
      <dgm:t>
        <a:bodyPr/>
        <a:lstStyle/>
        <a:p>
          <a:endParaRPr lang="en-US"/>
        </a:p>
      </dgm:t>
    </dgm:pt>
    <dgm:pt modelId="{5E174B15-F3DB-45D9-88C8-93BF5B8FFB33}">
      <dgm:prSet custT="1"/>
      <dgm:spPr/>
      <dgm:t>
        <a:bodyPr/>
        <a:lstStyle/>
        <a:p>
          <a:r>
            <a:rPr lang="en-US" sz="1700" dirty="0"/>
            <a:t>Germany faced economic instability, including the Great Depression, followed by rapid militarization and industrial growth in the 1930s.</a:t>
          </a:r>
        </a:p>
      </dgm:t>
    </dgm:pt>
    <dgm:pt modelId="{E73754C0-EDA9-4D73-ABCF-88A48DE59EA2}" type="parTrans" cxnId="{7B23B72C-B85D-4F79-9946-B2D5A1825D4D}">
      <dgm:prSet/>
      <dgm:spPr/>
      <dgm:t>
        <a:bodyPr/>
        <a:lstStyle/>
        <a:p>
          <a:endParaRPr lang="en-US"/>
        </a:p>
      </dgm:t>
    </dgm:pt>
    <dgm:pt modelId="{C66FD01E-8E85-40C8-A219-9767547C4278}" type="sibTrans" cxnId="{7B23B72C-B85D-4F79-9946-B2D5A1825D4D}">
      <dgm:prSet/>
      <dgm:spPr/>
      <dgm:t>
        <a:bodyPr/>
        <a:lstStyle/>
        <a:p>
          <a:endParaRPr lang="en-US"/>
        </a:p>
      </dgm:t>
    </dgm:pt>
    <dgm:pt modelId="{4B31C963-2DD7-4F7C-9579-530BE8FC6186}">
      <dgm:prSet/>
      <dgm:spPr/>
      <dgm:t>
        <a:bodyPr/>
        <a:lstStyle/>
        <a:p>
          <a:pPr>
            <a:defRPr b="1"/>
          </a:pPr>
          <a:r>
            <a:rPr lang="en-US"/>
            <a:t>1939–1945</a:t>
          </a:r>
        </a:p>
      </dgm:t>
    </dgm:pt>
    <dgm:pt modelId="{C2AF9D69-6525-4742-809B-E05B216B2CE5}" type="parTrans" cxnId="{C99A920A-8F74-4D42-8874-1F0C3BD69B31}">
      <dgm:prSet/>
      <dgm:spPr/>
      <dgm:t>
        <a:bodyPr/>
        <a:lstStyle/>
        <a:p>
          <a:endParaRPr lang="en-US"/>
        </a:p>
      </dgm:t>
    </dgm:pt>
    <dgm:pt modelId="{0D6AA14F-E7FD-4F70-903B-8D0C2B4C551D}" type="sibTrans" cxnId="{C99A920A-8F74-4D42-8874-1F0C3BD69B31}">
      <dgm:prSet/>
      <dgm:spPr/>
      <dgm:t>
        <a:bodyPr/>
        <a:lstStyle/>
        <a:p>
          <a:endParaRPr lang="en-US"/>
        </a:p>
      </dgm:t>
    </dgm:pt>
    <dgm:pt modelId="{D60B26F5-1260-4A03-A2C0-B9F609EC89B9}">
      <dgm:prSet custT="1"/>
      <dgm:spPr/>
      <dgm:t>
        <a:bodyPr/>
        <a:lstStyle/>
        <a:p>
          <a:r>
            <a:rPr lang="en-US" sz="1700" dirty="0"/>
            <a:t>World War II (1939–1945): Germany played a central role in the war, resulting in widespread destruction, economic collapse, and sharp declines in living standards and life expectancy.</a:t>
          </a:r>
        </a:p>
      </dgm:t>
    </dgm:pt>
    <dgm:pt modelId="{C84098D9-A054-490B-8ED7-A2E9B33CC2B7}" type="parTrans" cxnId="{72D49DF4-30E2-434E-8856-A5ADCDBA2024}">
      <dgm:prSet/>
      <dgm:spPr/>
      <dgm:t>
        <a:bodyPr/>
        <a:lstStyle/>
        <a:p>
          <a:endParaRPr lang="en-US"/>
        </a:p>
      </dgm:t>
    </dgm:pt>
    <dgm:pt modelId="{CA6A672D-59E4-4CDC-A497-FC72CD12C767}" type="sibTrans" cxnId="{72D49DF4-30E2-434E-8856-A5ADCDBA2024}">
      <dgm:prSet/>
      <dgm:spPr/>
      <dgm:t>
        <a:bodyPr/>
        <a:lstStyle/>
        <a:p>
          <a:endParaRPr lang="en-US"/>
        </a:p>
      </dgm:t>
    </dgm:pt>
    <dgm:pt modelId="{A6930098-7B10-4291-9927-62C732AFFA06}">
      <dgm:prSet/>
      <dgm:spPr/>
      <dgm:t>
        <a:bodyPr/>
        <a:lstStyle/>
        <a:p>
          <a:pPr>
            <a:defRPr b="1"/>
          </a:pPr>
          <a:r>
            <a:rPr lang="en-US"/>
            <a:t>1945</a:t>
          </a:r>
        </a:p>
      </dgm:t>
    </dgm:pt>
    <dgm:pt modelId="{94B8DCAB-0C27-435A-AC9B-DB58F69D31B2}" type="parTrans" cxnId="{9507256D-D380-40A2-8F26-752118780D1D}">
      <dgm:prSet/>
      <dgm:spPr/>
      <dgm:t>
        <a:bodyPr/>
        <a:lstStyle/>
        <a:p>
          <a:endParaRPr lang="en-US"/>
        </a:p>
      </dgm:t>
    </dgm:pt>
    <dgm:pt modelId="{AB504480-3E6C-4F44-AC48-AB823649E0B1}" type="sibTrans" cxnId="{9507256D-D380-40A2-8F26-752118780D1D}">
      <dgm:prSet/>
      <dgm:spPr/>
      <dgm:t>
        <a:bodyPr/>
        <a:lstStyle/>
        <a:p>
          <a:endParaRPr lang="en-US"/>
        </a:p>
      </dgm:t>
    </dgm:pt>
    <dgm:pt modelId="{5585AD3D-80B5-41ED-8815-0BF2E700E84A}">
      <dgm:prSet custT="1"/>
      <dgm:spPr/>
      <dgm:t>
        <a:bodyPr/>
        <a:lstStyle/>
        <a:p>
          <a:r>
            <a:rPr lang="en-US" sz="1700" dirty="0"/>
            <a:t>Post-1945: The country was divided and began reconstruction with international support, including the Marshall Plan.</a:t>
          </a:r>
        </a:p>
      </dgm:t>
    </dgm:pt>
    <dgm:pt modelId="{671DC1B1-7304-4666-9845-2154E941DF86}" type="parTrans" cxnId="{F8FABA47-1481-47F1-AF58-D4601CA8845C}">
      <dgm:prSet/>
      <dgm:spPr/>
      <dgm:t>
        <a:bodyPr/>
        <a:lstStyle/>
        <a:p>
          <a:endParaRPr lang="en-US"/>
        </a:p>
      </dgm:t>
    </dgm:pt>
    <dgm:pt modelId="{D48E65D2-2559-4C1A-B088-B9D8EF737FBB}" type="sibTrans" cxnId="{F8FABA47-1481-47F1-AF58-D4601CA8845C}">
      <dgm:prSet/>
      <dgm:spPr/>
      <dgm:t>
        <a:bodyPr/>
        <a:lstStyle/>
        <a:p>
          <a:endParaRPr lang="en-US"/>
        </a:p>
      </dgm:t>
    </dgm:pt>
    <dgm:pt modelId="{E71F8FBD-F1B7-4F4C-A4AA-5F3A1CC1E87C}">
      <dgm:prSet/>
      <dgm:spPr/>
      <dgm:t>
        <a:bodyPr/>
        <a:lstStyle/>
        <a:p>
          <a:pPr>
            <a:defRPr b="1"/>
          </a:pPr>
          <a:r>
            <a:rPr lang="en-US"/>
            <a:t>1950s</a:t>
          </a:r>
        </a:p>
      </dgm:t>
    </dgm:pt>
    <dgm:pt modelId="{D5A9F4F1-47B7-4204-A546-951F926D7B11}" type="parTrans" cxnId="{EE56BAFD-BC74-435A-B192-4978B39380A1}">
      <dgm:prSet/>
      <dgm:spPr/>
      <dgm:t>
        <a:bodyPr/>
        <a:lstStyle/>
        <a:p>
          <a:endParaRPr lang="en-US"/>
        </a:p>
      </dgm:t>
    </dgm:pt>
    <dgm:pt modelId="{A892CBD7-164F-4C08-88E2-DCA19A7B908E}" type="sibTrans" cxnId="{EE56BAFD-BC74-435A-B192-4978B39380A1}">
      <dgm:prSet/>
      <dgm:spPr/>
      <dgm:t>
        <a:bodyPr/>
        <a:lstStyle/>
        <a:p>
          <a:endParaRPr lang="en-US"/>
        </a:p>
      </dgm:t>
    </dgm:pt>
    <dgm:pt modelId="{2791170E-6DDD-4C83-941A-26A1ED85CF06}">
      <dgm:prSet custT="1"/>
      <dgm:spPr/>
      <dgm:t>
        <a:bodyPr/>
        <a:lstStyle/>
        <a:p>
          <a:r>
            <a:rPr lang="en-US" sz="1700" dirty="0"/>
            <a:t>West Germany experienced the “Wirtschaftswunder” (economic miracle), marked by strong industrial growth, rising GNI, improved living standards, and increasing CO₂ emissions due to rapid industrialization.</a:t>
          </a:r>
        </a:p>
      </dgm:t>
    </dgm:pt>
    <dgm:pt modelId="{FD33B895-742F-4759-855E-0C1343502161}" type="parTrans" cxnId="{370B22BE-B302-433D-BE25-0208FDE16A92}">
      <dgm:prSet/>
      <dgm:spPr/>
      <dgm:t>
        <a:bodyPr/>
        <a:lstStyle/>
        <a:p>
          <a:endParaRPr lang="en-US"/>
        </a:p>
      </dgm:t>
    </dgm:pt>
    <dgm:pt modelId="{1213F3DE-C108-4E69-9BCD-7E2C35549B94}" type="sibTrans" cxnId="{370B22BE-B302-433D-BE25-0208FDE16A92}">
      <dgm:prSet/>
      <dgm:spPr/>
      <dgm:t>
        <a:bodyPr/>
        <a:lstStyle/>
        <a:p>
          <a:endParaRPr lang="en-US"/>
        </a:p>
      </dgm:t>
    </dgm:pt>
    <dgm:pt modelId="{3CE49504-823C-4BFD-922F-C84E3B1078AD}" type="pres">
      <dgm:prSet presAssocID="{B5F051D4-02F0-449C-A410-58E108F9F0BF}" presName="root" presStyleCnt="0">
        <dgm:presLayoutVars>
          <dgm:chMax/>
          <dgm:chPref/>
          <dgm:animLvl val="lvl"/>
        </dgm:presLayoutVars>
      </dgm:prSet>
      <dgm:spPr/>
    </dgm:pt>
    <dgm:pt modelId="{8BFE8CE6-B3FE-42C0-9286-42B27BBCB914}" type="pres">
      <dgm:prSet presAssocID="{B5F051D4-02F0-449C-A410-58E108F9F0BF}" presName="divider" presStyleLbl="fgAcc1" presStyleIdx="0" presStyleCnt="1"/>
      <dgm:spPr/>
    </dgm:pt>
    <dgm:pt modelId="{506F0DB5-16B2-42F1-95BB-9BED2983B5AE}" type="pres">
      <dgm:prSet presAssocID="{B5F051D4-02F0-449C-A410-58E108F9F0BF}" presName="nodes" presStyleCnt="0">
        <dgm:presLayoutVars>
          <dgm:chMax/>
          <dgm:chPref/>
          <dgm:animLvl val="lvl"/>
        </dgm:presLayoutVars>
      </dgm:prSet>
      <dgm:spPr/>
    </dgm:pt>
    <dgm:pt modelId="{9C0665E6-D3DC-4873-9F3C-C02D9964A797}" type="pres">
      <dgm:prSet presAssocID="{9FEF9B3A-B473-4DCE-9B0E-DE50D9064B01}" presName="composite" presStyleCnt="0"/>
      <dgm:spPr/>
    </dgm:pt>
    <dgm:pt modelId="{423579A2-26D6-45CC-9210-2FF0B206B0F0}" type="pres">
      <dgm:prSet presAssocID="{9FEF9B3A-B473-4DCE-9B0E-DE50D9064B01}" presName="L1TextContainer" presStyleLbl="alignNode1" presStyleIdx="0" presStyleCnt="4">
        <dgm:presLayoutVars>
          <dgm:chMax val="1"/>
          <dgm:chPref val="1"/>
          <dgm:bulletEnabled val="1"/>
        </dgm:presLayoutVars>
      </dgm:prSet>
      <dgm:spPr/>
    </dgm:pt>
    <dgm:pt modelId="{5B866C6B-DD22-44BE-BBDB-6CF72B19EFC9}" type="pres">
      <dgm:prSet presAssocID="{9FEF9B3A-B473-4DCE-9B0E-DE50D9064B01}" presName="L2TextContainerWrapper" presStyleCnt="0">
        <dgm:presLayoutVars>
          <dgm:bulletEnabled val="1"/>
        </dgm:presLayoutVars>
      </dgm:prSet>
      <dgm:spPr/>
    </dgm:pt>
    <dgm:pt modelId="{CEC7E1F5-D30F-4375-9CE8-A6A03ECCC2A4}" type="pres">
      <dgm:prSet presAssocID="{9FEF9B3A-B473-4DCE-9B0E-DE50D9064B01}" presName="L2TextContainer" presStyleLbl="bgAccFollowNode1" presStyleIdx="0" presStyleCnt="4"/>
      <dgm:spPr/>
    </dgm:pt>
    <dgm:pt modelId="{53817280-7B78-4EE7-AC57-B93B66EC9708}" type="pres">
      <dgm:prSet presAssocID="{9FEF9B3A-B473-4DCE-9B0E-DE50D9064B01}" presName="FlexibleEmptyPlaceHolder" presStyleCnt="0"/>
      <dgm:spPr/>
    </dgm:pt>
    <dgm:pt modelId="{D006CA32-D0EF-4FD4-8071-512D9A04AE63}" type="pres">
      <dgm:prSet presAssocID="{9FEF9B3A-B473-4DCE-9B0E-DE50D9064B01}" presName="ConnectLine" presStyleLbl="sibTrans1D1" presStyleIdx="0" presStyleCnt="4"/>
      <dgm:spPr/>
    </dgm:pt>
    <dgm:pt modelId="{63EDAA95-973B-41FE-8A95-AD3CF5D7166D}" type="pres">
      <dgm:prSet presAssocID="{9FEF9B3A-B473-4DCE-9B0E-DE50D9064B01}" presName="ConnectorPoint" presStyleLbl="node1" presStyleIdx="0"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28985F2A-3901-41EB-9E76-4DA0A5D598E2}" type="pres">
      <dgm:prSet presAssocID="{9FEF9B3A-B473-4DCE-9B0E-DE50D9064B01}" presName="EmptyPlaceHolder" presStyleCnt="0"/>
      <dgm:spPr/>
    </dgm:pt>
    <dgm:pt modelId="{5932355C-28F3-4C35-B419-3724A41CE5AE}" type="pres">
      <dgm:prSet presAssocID="{1CF21395-C676-4DD2-AC34-8748930C0C87}" presName="spaceBetweenRectangles" presStyleCnt="0"/>
      <dgm:spPr/>
    </dgm:pt>
    <dgm:pt modelId="{8A79888F-AF2B-4CFF-9528-8BF880194A3E}" type="pres">
      <dgm:prSet presAssocID="{4B31C963-2DD7-4F7C-9579-530BE8FC6186}" presName="composite" presStyleCnt="0"/>
      <dgm:spPr/>
    </dgm:pt>
    <dgm:pt modelId="{63F89061-590F-4BA1-85DA-F9213058DA3E}" type="pres">
      <dgm:prSet presAssocID="{4B31C963-2DD7-4F7C-9579-530BE8FC6186}" presName="L1TextContainer" presStyleLbl="alignNode1" presStyleIdx="1" presStyleCnt="4">
        <dgm:presLayoutVars>
          <dgm:chMax val="1"/>
          <dgm:chPref val="1"/>
          <dgm:bulletEnabled val="1"/>
        </dgm:presLayoutVars>
      </dgm:prSet>
      <dgm:spPr/>
    </dgm:pt>
    <dgm:pt modelId="{D1A402D6-6983-48FE-A43E-63C51A53AEE3}" type="pres">
      <dgm:prSet presAssocID="{4B31C963-2DD7-4F7C-9579-530BE8FC6186}" presName="L2TextContainerWrapper" presStyleCnt="0">
        <dgm:presLayoutVars>
          <dgm:bulletEnabled val="1"/>
        </dgm:presLayoutVars>
      </dgm:prSet>
      <dgm:spPr/>
    </dgm:pt>
    <dgm:pt modelId="{08CF6CB4-D9E6-4EEC-900B-E7D47BACABBE}" type="pres">
      <dgm:prSet presAssocID="{4B31C963-2DD7-4F7C-9579-530BE8FC6186}" presName="L2TextContainer" presStyleLbl="bgAccFollowNode1" presStyleIdx="1" presStyleCnt="4"/>
      <dgm:spPr/>
    </dgm:pt>
    <dgm:pt modelId="{BD6F4F33-E9FC-4C54-94EB-A21D59C9817D}" type="pres">
      <dgm:prSet presAssocID="{4B31C963-2DD7-4F7C-9579-530BE8FC6186}" presName="FlexibleEmptyPlaceHolder" presStyleCnt="0"/>
      <dgm:spPr/>
    </dgm:pt>
    <dgm:pt modelId="{46D062CF-3CB9-4D70-80CB-A8A39ACBB5D7}" type="pres">
      <dgm:prSet presAssocID="{4B31C963-2DD7-4F7C-9579-530BE8FC6186}" presName="ConnectLine" presStyleLbl="sibTrans1D1" presStyleIdx="1" presStyleCnt="4"/>
      <dgm:spPr/>
    </dgm:pt>
    <dgm:pt modelId="{1FB6DB81-A4CA-49FC-B80D-EFEA3784E5A1}" type="pres">
      <dgm:prSet presAssocID="{4B31C963-2DD7-4F7C-9579-530BE8FC6186}" presName="ConnectorPoint" presStyleLbl="node1" presStyleIdx="1"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C8D38519-0532-4A41-943A-3DA7F05EB909}" type="pres">
      <dgm:prSet presAssocID="{4B31C963-2DD7-4F7C-9579-530BE8FC6186}" presName="EmptyPlaceHolder" presStyleCnt="0"/>
      <dgm:spPr/>
    </dgm:pt>
    <dgm:pt modelId="{2FFBD77C-993D-4540-87D5-B96D784541FF}" type="pres">
      <dgm:prSet presAssocID="{0D6AA14F-E7FD-4F70-903B-8D0C2B4C551D}" presName="spaceBetweenRectangles" presStyleCnt="0"/>
      <dgm:spPr/>
    </dgm:pt>
    <dgm:pt modelId="{126EED79-6BD0-4C56-95FD-6DF3C9035006}" type="pres">
      <dgm:prSet presAssocID="{A6930098-7B10-4291-9927-62C732AFFA06}" presName="composite" presStyleCnt="0"/>
      <dgm:spPr/>
    </dgm:pt>
    <dgm:pt modelId="{05B95858-04B9-4821-8EA4-7CD67DFF9D0A}" type="pres">
      <dgm:prSet presAssocID="{A6930098-7B10-4291-9927-62C732AFFA06}" presName="L1TextContainer" presStyleLbl="alignNode1" presStyleIdx="2" presStyleCnt="4">
        <dgm:presLayoutVars>
          <dgm:chMax val="1"/>
          <dgm:chPref val="1"/>
          <dgm:bulletEnabled val="1"/>
        </dgm:presLayoutVars>
      </dgm:prSet>
      <dgm:spPr/>
    </dgm:pt>
    <dgm:pt modelId="{4712CD70-FD81-4010-AFAC-C25EC58F80D0}" type="pres">
      <dgm:prSet presAssocID="{A6930098-7B10-4291-9927-62C732AFFA06}" presName="L2TextContainerWrapper" presStyleCnt="0">
        <dgm:presLayoutVars>
          <dgm:bulletEnabled val="1"/>
        </dgm:presLayoutVars>
      </dgm:prSet>
      <dgm:spPr/>
    </dgm:pt>
    <dgm:pt modelId="{E46225D2-6B95-48FB-AB06-0DC43F3352FD}" type="pres">
      <dgm:prSet presAssocID="{A6930098-7B10-4291-9927-62C732AFFA06}" presName="L2TextContainer" presStyleLbl="bgAccFollowNode1" presStyleIdx="2" presStyleCnt="4"/>
      <dgm:spPr/>
    </dgm:pt>
    <dgm:pt modelId="{E97CD4E7-0B2D-4A31-BA06-E004AAE06D44}" type="pres">
      <dgm:prSet presAssocID="{A6930098-7B10-4291-9927-62C732AFFA06}" presName="FlexibleEmptyPlaceHolder" presStyleCnt="0"/>
      <dgm:spPr/>
    </dgm:pt>
    <dgm:pt modelId="{CA253A59-202F-454F-BDAB-DF5D2D3B7D59}" type="pres">
      <dgm:prSet presAssocID="{A6930098-7B10-4291-9927-62C732AFFA06}" presName="ConnectLine" presStyleLbl="sibTrans1D1" presStyleIdx="2" presStyleCnt="4"/>
      <dgm:spPr/>
    </dgm:pt>
    <dgm:pt modelId="{19252DC1-DAE6-451F-A868-9FFD0D2E8ACD}" type="pres">
      <dgm:prSet presAssocID="{A6930098-7B10-4291-9927-62C732AFFA06}" presName="ConnectorPoint" presStyleLbl="node1" presStyleIdx="2"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7EA4EECE-19AD-455E-A3F2-C58C31AB140A}" type="pres">
      <dgm:prSet presAssocID="{A6930098-7B10-4291-9927-62C732AFFA06}" presName="EmptyPlaceHolder" presStyleCnt="0"/>
      <dgm:spPr/>
    </dgm:pt>
    <dgm:pt modelId="{629E3919-59C6-4834-9F5F-2250F5D55D07}" type="pres">
      <dgm:prSet presAssocID="{AB504480-3E6C-4F44-AC48-AB823649E0B1}" presName="spaceBetweenRectangles" presStyleCnt="0"/>
      <dgm:spPr/>
    </dgm:pt>
    <dgm:pt modelId="{CA3F6AE9-10EB-4B46-BADD-0290A7052FBB}" type="pres">
      <dgm:prSet presAssocID="{E71F8FBD-F1B7-4F4C-A4AA-5F3A1CC1E87C}" presName="composite" presStyleCnt="0"/>
      <dgm:spPr/>
    </dgm:pt>
    <dgm:pt modelId="{00343AEF-35F8-4083-BFE3-034EA86550EB}" type="pres">
      <dgm:prSet presAssocID="{E71F8FBD-F1B7-4F4C-A4AA-5F3A1CC1E87C}" presName="L1TextContainer" presStyleLbl="alignNode1" presStyleIdx="3" presStyleCnt="4">
        <dgm:presLayoutVars>
          <dgm:chMax val="1"/>
          <dgm:chPref val="1"/>
          <dgm:bulletEnabled val="1"/>
        </dgm:presLayoutVars>
      </dgm:prSet>
      <dgm:spPr/>
    </dgm:pt>
    <dgm:pt modelId="{82E2FBA3-4B8B-45CE-AF3D-9CDC7751ECD6}" type="pres">
      <dgm:prSet presAssocID="{E71F8FBD-F1B7-4F4C-A4AA-5F3A1CC1E87C}" presName="L2TextContainerWrapper" presStyleCnt="0">
        <dgm:presLayoutVars>
          <dgm:bulletEnabled val="1"/>
        </dgm:presLayoutVars>
      </dgm:prSet>
      <dgm:spPr/>
    </dgm:pt>
    <dgm:pt modelId="{FC6FDFF0-256D-49A8-8FE5-57A9A4F982FC}" type="pres">
      <dgm:prSet presAssocID="{E71F8FBD-F1B7-4F4C-A4AA-5F3A1CC1E87C}" presName="L2TextContainer" presStyleLbl="bgAccFollowNode1" presStyleIdx="3" presStyleCnt="4"/>
      <dgm:spPr/>
    </dgm:pt>
    <dgm:pt modelId="{A2232AB5-A2C2-4BE1-98E1-F7099B21E7AF}" type="pres">
      <dgm:prSet presAssocID="{E71F8FBD-F1B7-4F4C-A4AA-5F3A1CC1E87C}" presName="FlexibleEmptyPlaceHolder" presStyleCnt="0"/>
      <dgm:spPr/>
    </dgm:pt>
    <dgm:pt modelId="{6940354D-FC55-4CB0-839F-47AD73DA74F7}" type="pres">
      <dgm:prSet presAssocID="{E71F8FBD-F1B7-4F4C-A4AA-5F3A1CC1E87C}" presName="ConnectLine" presStyleLbl="sibTrans1D1" presStyleIdx="3" presStyleCnt="4"/>
      <dgm:spPr/>
    </dgm:pt>
    <dgm:pt modelId="{85630953-192D-478B-946A-C2D497157DBA}" type="pres">
      <dgm:prSet presAssocID="{E71F8FBD-F1B7-4F4C-A4AA-5F3A1CC1E87C}" presName="ConnectorPoint" presStyleLbl="node1" presStyleIdx="3" presStyleCnt="4"/>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35876D8A-7333-4610-8B07-C206A121A3EC}" type="pres">
      <dgm:prSet presAssocID="{E71F8FBD-F1B7-4F4C-A4AA-5F3A1CC1E87C}" presName="EmptyPlaceHolder" presStyleCnt="0"/>
      <dgm:spPr/>
    </dgm:pt>
  </dgm:ptLst>
  <dgm:cxnLst>
    <dgm:cxn modelId="{C99A920A-8F74-4D42-8874-1F0C3BD69B31}" srcId="{B5F051D4-02F0-449C-A410-58E108F9F0BF}" destId="{4B31C963-2DD7-4F7C-9579-530BE8FC6186}" srcOrd="1" destOrd="0" parTransId="{C2AF9D69-6525-4742-809B-E05B216B2CE5}" sibTransId="{0D6AA14F-E7FD-4F70-903B-8D0C2B4C551D}"/>
    <dgm:cxn modelId="{7B23B72C-B85D-4F79-9946-B2D5A1825D4D}" srcId="{9FEF9B3A-B473-4DCE-9B0E-DE50D9064B01}" destId="{5E174B15-F3DB-45D9-88C8-93BF5B8FFB33}" srcOrd="0" destOrd="0" parTransId="{E73754C0-EDA9-4D73-ABCF-88A48DE59EA2}" sibTransId="{C66FD01E-8E85-40C8-A219-9767547C4278}"/>
    <dgm:cxn modelId="{D3217E3F-3B53-49FD-835E-3FC9AFFF75F6}" type="presOf" srcId="{D60B26F5-1260-4A03-A2C0-B9F609EC89B9}" destId="{08CF6CB4-D9E6-4EEC-900B-E7D47BACABBE}" srcOrd="0" destOrd="0" presId="urn:microsoft.com/office/officeart/2017/3/layout/HorizontalLabelsTimeline"/>
    <dgm:cxn modelId="{F8FABA47-1481-47F1-AF58-D4601CA8845C}" srcId="{A6930098-7B10-4291-9927-62C732AFFA06}" destId="{5585AD3D-80B5-41ED-8815-0BF2E700E84A}" srcOrd="0" destOrd="0" parTransId="{671DC1B1-7304-4666-9845-2154E941DF86}" sibTransId="{D48E65D2-2559-4C1A-B088-B9D8EF737FBB}"/>
    <dgm:cxn modelId="{A003F247-1FA5-4EA9-BAE8-34B97AF45996}" type="presOf" srcId="{B5F051D4-02F0-449C-A410-58E108F9F0BF}" destId="{3CE49504-823C-4BFD-922F-C84E3B1078AD}" srcOrd="0" destOrd="0" presId="urn:microsoft.com/office/officeart/2017/3/layout/HorizontalLabelsTimeline"/>
    <dgm:cxn modelId="{2CDBDD69-E2CA-46EE-ADE3-47634A3DEAF0}" type="presOf" srcId="{9FEF9B3A-B473-4DCE-9B0E-DE50D9064B01}" destId="{423579A2-26D6-45CC-9210-2FF0B206B0F0}" srcOrd="0" destOrd="0" presId="urn:microsoft.com/office/officeart/2017/3/layout/HorizontalLabelsTimeline"/>
    <dgm:cxn modelId="{F9BD356B-3A2F-4382-AA05-0FDE833AA645}" type="presOf" srcId="{2791170E-6DDD-4C83-941A-26A1ED85CF06}" destId="{FC6FDFF0-256D-49A8-8FE5-57A9A4F982FC}" srcOrd="0" destOrd="0" presId="urn:microsoft.com/office/officeart/2017/3/layout/HorizontalLabelsTimeline"/>
    <dgm:cxn modelId="{87B3AA6B-D83B-43E4-BE66-4607125CE5B7}" type="presOf" srcId="{5585AD3D-80B5-41ED-8815-0BF2E700E84A}" destId="{E46225D2-6B95-48FB-AB06-0DC43F3352FD}" srcOrd="0" destOrd="0" presId="urn:microsoft.com/office/officeart/2017/3/layout/HorizontalLabelsTimeline"/>
    <dgm:cxn modelId="{9507256D-D380-40A2-8F26-752118780D1D}" srcId="{B5F051D4-02F0-449C-A410-58E108F9F0BF}" destId="{A6930098-7B10-4291-9927-62C732AFFA06}" srcOrd="2" destOrd="0" parTransId="{94B8DCAB-0C27-435A-AC9B-DB58F69D31B2}" sibTransId="{AB504480-3E6C-4F44-AC48-AB823649E0B1}"/>
    <dgm:cxn modelId="{8808C391-1126-4986-A235-E4524EEA38D8}" type="presOf" srcId="{E71F8FBD-F1B7-4F4C-A4AA-5F3A1CC1E87C}" destId="{00343AEF-35F8-4083-BFE3-034EA86550EB}" srcOrd="0" destOrd="0" presId="urn:microsoft.com/office/officeart/2017/3/layout/HorizontalLabelsTimeline"/>
    <dgm:cxn modelId="{542EE49B-DDDA-4013-A5EC-29ECA5C890C1}" srcId="{B5F051D4-02F0-449C-A410-58E108F9F0BF}" destId="{9FEF9B3A-B473-4DCE-9B0E-DE50D9064B01}" srcOrd="0" destOrd="0" parTransId="{1D1DCDDF-905D-4650-9A06-BB0E8ED759A4}" sibTransId="{1CF21395-C676-4DD2-AC34-8748930C0C87}"/>
    <dgm:cxn modelId="{370B22BE-B302-433D-BE25-0208FDE16A92}" srcId="{E71F8FBD-F1B7-4F4C-A4AA-5F3A1CC1E87C}" destId="{2791170E-6DDD-4C83-941A-26A1ED85CF06}" srcOrd="0" destOrd="0" parTransId="{FD33B895-742F-4759-855E-0C1343502161}" sibTransId="{1213F3DE-C108-4E69-9BCD-7E2C35549B94}"/>
    <dgm:cxn modelId="{59DAFDE2-9DA2-4A45-AFCB-EE16C974F5F5}" type="presOf" srcId="{A6930098-7B10-4291-9927-62C732AFFA06}" destId="{05B95858-04B9-4821-8EA4-7CD67DFF9D0A}" srcOrd="0" destOrd="0" presId="urn:microsoft.com/office/officeart/2017/3/layout/HorizontalLabelsTimeline"/>
    <dgm:cxn modelId="{6B47C9F3-375F-46E2-90EC-2C677E82363B}" type="presOf" srcId="{5E174B15-F3DB-45D9-88C8-93BF5B8FFB33}" destId="{CEC7E1F5-D30F-4375-9CE8-A6A03ECCC2A4}" srcOrd="0" destOrd="0" presId="urn:microsoft.com/office/officeart/2017/3/layout/HorizontalLabelsTimeline"/>
    <dgm:cxn modelId="{72D49DF4-30E2-434E-8856-A5ADCDBA2024}" srcId="{4B31C963-2DD7-4F7C-9579-530BE8FC6186}" destId="{D60B26F5-1260-4A03-A2C0-B9F609EC89B9}" srcOrd="0" destOrd="0" parTransId="{C84098D9-A054-490B-8ED7-A2E9B33CC2B7}" sibTransId="{CA6A672D-59E4-4CDC-A497-FC72CD12C767}"/>
    <dgm:cxn modelId="{BEDF01F5-8E0B-4F76-8EEC-9B2BB340AE60}" type="presOf" srcId="{4B31C963-2DD7-4F7C-9579-530BE8FC6186}" destId="{63F89061-590F-4BA1-85DA-F9213058DA3E}" srcOrd="0" destOrd="0" presId="urn:microsoft.com/office/officeart/2017/3/layout/HorizontalLabelsTimeline"/>
    <dgm:cxn modelId="{EE56BAFD-BC74-435A-B192-4978B39380A1}" srcId="{B5F051D4-02F0-449C-A410-58E108F9F0BF}" destId="{E71F8FBD-F1B7-4F4C-A4AA-5F3A1CC1E87C}" srcOrd="3" destOrd="0" parTransId="{D5A9F4F1-47B7-4204-A546-951F926D7B11}" sibTransId="{A892CBD7-164F-4C08-88E2-DCA19A7B908E}"/>
    <dgm:cxn modelId="{E3EDD376-0C8B-43EE-B009-95BEA6222EEC}" type="presParOf" srcId="{3CE49504-823C-4BFD-922F-C84E3B1078AD}" destId="{8BFE8CE6-B3FE-42C0-9286-42B27BBCB914}" srcOrd="0" destOrd="0" presId="urn:microsoft.com/office/officeart/2017/3/layout/HorizontalLabelsTimeline"/>
    <dgm:cxn modelId="{AA353BD4-C990-48CB-9B52-A4A1FD98F271}" type="presParOf" srcId="{3CE49504-823C-4BFD-922F-C84E3B1078AD}" destId="{506F0DB5-16B2-42F1-95BB-9BED2983B5AE}" srcOrd="1" destOrd="0" presId="urn:microsoft.com/office/officeart/2017/3/layout/HorizontalLabelsTimeline"/>
    <dgm:cxn modelId="{8B2CB47D-8B17-41E1-AC1D-3E16333E5450}" type="presParOf" srcId="{506F0DB5-16B2-42F1-95BB-9BED2983B5AE}" destId="{9C0665E6-D3DC-4873-9F3C-C02D9964A797}" srcOrd="0" destOrd="0" presId="urn:microsoft.com/office/officeart/2017/3/layout/HorizontalLabelsTimeline"/>
    <dgm:cxn modelId="{D0013C5D-6920-47E2-9854-A894B500FC24}" type="presParOf" srcId="{9C0665E6-D3DC-4873-9F3C-C02D9964A797}" destId="{423579A2-26D6-45CC-9210-2FF0B206B0F0}" srcOrd="0" destOrd="0" presId="urn:microsoft.com/office/officeart/2017/3/layout/HorizontalLabelsTimeline"/>
    <dgm:cxn modelId="{D6F430F6-6B67-4EE1-A7ED-F90C9C19F679}" type="presParOf" srcId="{9C0665E6-D3DC-4873-9F3C-C02D9964A797}" destId="{5B866C6B-DD22-44BE-BBDB-6CF72B19EFC9}" srcOrd="1" destOrd="0" presId="urn:microsoft.com/office/officeart/2017/3/layout/HorizontalLabelsTimeline"/>
    <dgm:cxn modelId="{F771BF73-8731-4637-9F36-D29DB51E5642}" type="presParOf" srcId="{5B866C6B-DD22-44BE-BBDB-6CF72B19EFC9}" destId="{CEC7E1F5-D30F-4375-9CE8-A6A03ECCC2A4}" srcOrd="0" destOrd="0" presId="urn:microsoft.com/office/officeart/2017/3/layout/HorizontalLabelsTimeline"/>
    <dgm:cxn modelId="{F1698D68-2399-4276-B32A-8157498697B6}" type="presParOf" srcId="{5B866C6B-DD22-44BE-BBDB-6CF72B19EFC9}" destId="{53817280-7B78-4EE7-AC57-B93B66EC9708}" srcOrd="1" destOrd="0" presId="urn:microsoft.com/office/officeart/2017/3/layout/HorizontalLabelsTimeline"/>
    <dgm:cxn modelId="{D02CCB20-5999-45DD-8C80-5E317FCD2725}" type="presParOf" srcId="{9C0665E6-D3DC-4873-9F3C-C02D9964A797}" destId="{D006CA32-D0EF-4FD4-8071-512D9A04AE63}" srcOrd="2" destOrd="0" presId="urn:microsoft.com/office/officeart/2017/3/layout/HorizontalLabelsTimeline"/>
    <dgm:cxn modelId="{56F8C5AE-6681-47DB-9BA0-D03FF403A2CC}" type="presParOf" srcId="{9C0665E6-D3DC-4873-9F3C-C02D9964A797}" destId="{63EDAA95-973B-41FE-8A95-AD3CF5D7166D}" srcOrd="3" destOrd="0" presId="urn:microsoft.com/office/officeart/2017/3/layout/HorizontalLabelsTimeline"/>
    <dgm:cxn modelId="{125714FA-695C-48F3-81D7-E9AA222218F4}" type="presParOf" srcId="{9C0665E6-D3DC-4873-9F3C-C02D9964A797}" destId="{28985F2A-3901-41EB-9E76-4DA0A5D598E2}" srcOrd="4" destOrd="0" presId="urn:microsoft.com/office/officeart/2017/3/layout/HorizontalLabelsTimeline"/>
    <dgm:cxn modelId="{5FDE6E5E-709D-4C5E-94BA-A19DA9D5D49F}" type="presParOf" srcId="{506F0DB5-16B2-42F1-95BB-9BED2983B5AE}" destId="{5932355C-28F3-4C35-B419-3724A41CE5AE}" srcOrd="1" destOrd="0" presId="urn:microsoft.com/office/officeart/2017/3/layout/HorizontalLabelsTimeline"/>
    <dgm:cxn modelId="{86EEB7A9-EAC3-4E35-930D-2F5A98285F38}" type="presParOf" srcId="{506F0DB5-16B2-42F1-95BB-9BED2983B5AE}" destId="{8A79888F-AF2B-4CFF-9528-8BF880194A3E}" srcOrd="2" destOrd="0" presId="urn:microsoft.com/office/officeart/2017/3/layout/HorizontalLabelsTimeline"/>
    <dgm:cxn modelId="{47146B2D-704B-4072-8823-B5D011BE0A27}" type="presParOf" srcId="{8A79888F-AF2B-4CFF-9528-8BF880194A3E}" destId="{63F89061-590F-4BA1-85DA-F9213058DA3E}" srcOrd="0" destOrd="0" presId="urn:microsoft.com/office/officeart/2017/3/layout/HorizontalLabelsTimeline"/>
    <dgm:cxn modelId="{1C783DCC-E45D-4C15-AD8E-5712CB7904A6}" type="presParOf" srcId="{8A79888F-AF2B-4CFF-9528-8BF880194A3E}" destId="{D1A402D6-6983-48FE-A43E-63C51A53AEE3}" srcOrd="1" destOrd="0" presId="urn:microsoft.com/office/officeart/2017/3/layout/HorizontalLabelsTimeline"/>
    <dgm:cxn modelId="{AA954E38-8982-4BD5-AE8E-9FB8A39FFF6B}" type="presParOf" srcId="{D1A402D6-6983-48FE-A43E-63C51A53AEE3}" destId="{08CF6CB4-D9E6-4EEC-900B-E7D47BACABBE}" srcOrd="0" destOrd="0" presId="urn:microsoft.com/office/officeart/2017/3/layout/HorizontalLabelsTimeline"/>
    <dgm:cxn modelId="{15CAF7BC-BA59-43BA-8071-E87437A6D78E}" type="presParOf" srcId="{D1A402D6-6983-48FE-A43E-63C51A53AEE3}" destId="{BD6F4F33-E9FC-4C54-94EB-A21D59C9817D}" srcOrd="1" destOrd="0" presId="urn:microsoft.com/office/officeart/2017/3/layout/HorizontalLabelsTimeline"/>
    <dgm:cxn modelId="{F47FA7EA-3EA6-434E-AF9D-D9C24363E2A8}" type="presParOf" srcId="{8A79888F-AF2B-4CFF-9528-8BF880194A3E}" destId="{46D062CF-3CB9-4D70-80CB-A8A39ACBB5D7}" srcOrd="2" destOrd="0" presId="urn:microsoft.com/office/officeart/2017/3/layout/HorizontalLabelsTimeline"/>
    <dgm:cxn modelId="{D8C85033-7DDF-4995-BC97-3C8456368A4D}" type="presParOf" srcId="{8A79888F-AF2B-4CFF-9528-8BF880194A3E}" destId="{1FB6DB81-A4CA-49FC-B80D-EFEA3784E5A1}" srcOrd="3" destOrd="0" presId="urn:microsoft.com/office/officeart/2017/3/layout/HorizontalLabelsTimeline"/>
    <dgm:cxn modelId="{04CDFA00-C748-49CE-8E95-4480DF327E23}" type="presParOf" srcId="{8A79888F-AF2B-4CFF-9528-8BF880194A3E}" destId="{C8D38519-0532-4A41-943A-3DA7F05EB909}" srcOrd="4" destOrd="0" presId="urn:microsoft.com/office/officeart/2017/3/layout/HorizontalLabelsTimeline"/>
    <dgm:cxn modelId="{DC7C7B2E-F6E4-4102-8B23-B5E6FBCAD58D}" type="presParOf" srcId="{506F0DB5-16B2-42F1-95BB-9BED2983B5AE}" destId="{2FFBD77C-993D-4540-87D5-B96D784541FF}" srcOrd="3" destOrd="0" presId="urn:microsoft.com/office/officeart/2017/3/layout/HorizontalLabelsTimeline"/>
    <dgm:cxn modelId="{5A00F28E-0219-4EE9-B35D-B1CA10A4C432}" type="presParOf" srcId="{506F0DB5-16B2-42F1-95BB-9BED2983B5AE}" destId="{126EED79-6BD0-4C56-95FD-6DF3C9035006}" srcOrd="4" destOrd="0" presId="urn:microsoft.com/office/officeart/2017/3/layout/HorizontalLabelsTimeline"/>
    <dgm:cxn modelId="{2614E822-AC56-4826-ACF9-B0B677F4B823}" type="presParOf" srcId="{126EED79-6BD0-4C56-95FD-6DF3C9035006}" destId="{05B95858-04B9-4821-8EA4-7CD67DFF9D0A}" srcOrd="0" destOrd="0" presId="urn:microsoft.com/office/officeart/2017/3/layout/HorizontalLabelsTimeline"/>
    <dgm:cxn modelId="{B19C6CE1-0758-4723-8E8E-7FCAF5CB79E7}" type="presParOf" srcId="{126EED79-6BD0-4C56-95FD-6DF3C9035006}" destId="{4712CD70-FD81-4010-AFAC-C25EC58F80D0}" srcOrd="1" destOrd="0" presId="urn:microsoft.com/office/officeart/2017/3/layout/HorizontalLabelsTimeline"/>
    <dgm:cxn modelId="{663D2227-3BB2-4942-BF41-DA3DB8C4441C}" type="presParOf" srcId="{4712CD70-FD81-4010-AFAC-C25EC58F80D0}" destId="{E46225D2-6B95-48FB-AB06-0DC43F3352FD}" srcOrd="0" destOrd="0" presId="urn:microsoft.com/office/officeart/2017/3/layout/HorizontalLabelsTimeline"/>
    <dgm:cxn modelId="{4E4F0386-9242-4A88-B90D-033F247FF69B}" type="presParOf" srcId="{4712CD70-FD81-4010-AFAC-C25EC58F80D0}" destId="{E97CD4E7-0B2D-4A31-BA06-E004AAE06D44}" srcOrd="1" destOrd="0" presId="urn:microsoft.com/office/officeart/2017/3/layout/HorizontalLabelsTimeline"/>
    <dgm:cxn modelId="{4F2F63C7-B3AE-4039-85BE-3BFBB0D5A91D}" type="presParOf" srcId="{126EED79-6BD0-4C56-95FD-6DF3C9035006}" destId="{CA253A59-202F-454F-BDAB-DF5D2D3B7D59}" srcOrd="2" destOrd="0" presId="urn:microsoft.com/office/officeart/2017/3/layout/HorizontalLabelsTimeline"/>
    <dgm:cxn modelId="{C6ABF5F4-6EF2-4F6B-BA27-40A5A7522587}" type="presParOf" srcId="{126EED79-6BD0-4C56-95FD-6DF3C9035006}" destId="{19252DC1-DAE6-451F-A868-9FFD0D2E8ACD}" srcOrd="3" destOrd="0" presId="urn:microsoft.com/office/officeart/2017/3/layout/HorizontalLabelsTimeline"/>
    <dgm:cxn modelId="{BC2019CB-8902-4511-AF32-6E12B9281AAB}" type="presParOf" srcId="{126EED79-6BD0-4C56-95FD-6DF3C9035006}" destId="{7EA4EECE-19AD-455E-A3F2-C58C31AB140A}" srcOrd="4" destOrd="0" presId="urn:microsoft.com/office/officeart/2017/3/layout/HorizontalLabelsTimeline"/>
    <dgm:cxn modelId="{1E62BC99-DF4E-446E-A59F-6614784C7E0B}" type="presParOf" srcId="{506F0DB5-16B2-42F1-95BB-9BED2983B5AE}" destId="{629E3919-59C6-4834-9F5F-2250F5D55D07}" srcOrd="5" destOrd="0" presId="urn:microsoft.com/office/officeart/2017/3/layout/HorizontalLabelsTimeline"/>
    <dgm:cxn modelId="{7C27AD61-6F7E-41DC-8F3B-67FF72C92EA8}" type="presParOf" srcId="{506F0DB5-16B2-42F1-95BB-9BED2983B5AE}" destId="{CA3F6AE9-10EB-4B46-BADD-0290A7052FBB}" srcOrd="6" destOrd="0" presId="urn:microsoft.com/office/officeart/2017/3/layout/HorizontalLabelsTimeline"/>
    <dgm:cxn modelId="{AB7A4C0C-219F-4A7F-900E-271A707BD45C}" type="presParOf" srcId="{CA3F6AE9-10EB-4B46-BADD-0290A7052FBB}" destId="{00343AEF-35F8-4083-BFE3-034EA86550EB}" srcOrd="0" destOrd="0" presId="urn:microsoft.com/office/officeart/2017/3/layout/HorizontalLabelsTimeline"/>
    <dgm:cxn modelId="{CBFBD713-C77A-4AF8-9C8A-79CF7B8FB4D3}" type="presParOf" srcId="{CA3F6AE9-10EB-4B46-BADD-0290A7052FBB}" destId="{82E2FBA3-4B8B-45CE-AF3D-9CDC7751ECD6}" srcOrd="1" destOrd="0" presId="urn:microsoft.com/office/officeart/2017/3/layout/HorizontalLabelsTimeline"/>
    <dgm:cxn modelId="{35E1A031-D044-49ED-9575-8D00118DBC09}" type="presParOf" srcId="{82E2FBA3-4B8B-45CE-AF3D-9CDC7751ECD6}" destId="{FC6FDFF0-256D-49A8-8FE5-57A9A4F982FC}" srcOrd="0" destOrd="0" presId="urn:microsoft.com/office/officeart/2017/3/layout/HorizontalLabelsTimeline"/>
    <dgm:cxn modelId="{0DFCA53F-EAAC-4201-98B4-ADD1A5BFB317}" type="presParOf" srcId="{82E2FBA3-4B8B-45CE-AF3D-9CDC7751ECD6}" destId="{A2232AB5-A2C2-4BE1-98E1-F7099B21E7AF}" srcOrd="1" destOrd="0" presId="urn:microsoft.com/office/officeart/2017/3/layout/HorizontalLabelsTimeline"/>
    <dgm:cxn modelId="{1F623A95-3B8E-423F-9D81-E09BD2828B8F}" type="presParOf" srcId="{CA3F6AE9-10EB-4B46-BADD-0290A7052FBB}" destId="{6940354D-FC55-4CB0-839F-47AD73DA74F7}" srcOrd="2" destOrd="0" presId="urn:microsoft.com/office/officeart/2017/3/layout/HorizontalLabelsTimeline"/>
    <dgm:cxn modelId="{FEF15F7F-DC0F-4464-B5C1-D209AFDF6DCE}" type="presParOf" srcId="{CA3F6AE9-10EB-4B46-BADD-0290A7052FBB}" destId="{85630953-192D-478B-946A-C2D497157DBA}" srcOrd="3" destOrd="0" presId="urn:microsoft.com/office/officeart/2017/3/layout/HorizontalLabelsTimeline"/>
    <dgm:cxn modelId="{12A1708D-F218-44D1-B9A6-165BB3744505}" type="presParOf" srcId="{CA3F6AE9-10EB-4B46-BADD-0290A7052FBB}" destId="{35876D8A-7333-4610-8B07-C206A121A3EC}"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C74CF0-8A4A-4FDB-B2A9-65952AA82815}">
      <dsp:nvSpPr>
        <dsp:cNvPr id="0" name=""/>
        <dsp:cNvSpPr/>
      </dsp:nvSpPr>
      <dsp:spPr>
        <a:xfrm>
          <a:off x="0" y="0"/>
          <a:ext cx="4614801" cy="1089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developing</a:t>
          </a:r>
          <a:r>
            <a:rPr lang="en-US" sz="1700" kern="1200" dirty="0"/>
            <a:t> countries percentage is approximately the half of the countries represents 72 countries.</a:t>
          </a:r>
        </a:p>
      </dsp:txBody>
      <dsp:txXfrm>
        <a:off x="31904" y="31904"/>
        <a:ext cx="3347338" cy="1025472"/>
      </dsp:txXfrm>
    </dsp:sp>
    <dsp:sp modelId="{8C54CDBB-A984-434F-A046-8845B6398E82}">
      <dsp:nvSpPr>
        <dsp:cNvPr id="0" name=""/>
        <dsp:cNvSpPr/>
      </dsp:nvSpPr>
      <dsp:spPr>
        <a:xfrm>
          <a:off x="386489" y="1287332"/>
          <a:ext cx="4614801" cy="1089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the </a:t>
          </a:r>
          <a:r>
            <a:rPr lang="en-US" sz="1700" b="1" kern="1200" dirty="0"/>
            <a:t>developed </a:t>
          </a:r>
          <a:r>
            <a:rPr lang="en-US" sz="1700" kern="1200" dirty="0"/>
            <a:t>and </a:t>
          </a:r>
          <a:r>
            <a:rPr lang="en-US" sz="1700" b="1" kern="1200" dirty="0"/>
            <a:t>least developed</a:t>
          </a:r>
          <a:r>
            <a:rPr lang="en-US" sz="1700" kern="1200" dirty="0"/>
            <a:t> are almost the same:</a:t>
          </a:r>
        </a:p>
      </dsp:txBody>
      <dsp:txXfrm>
        <a:off x="418393" y="1319236"/>
        <a:ext cx="3456471" cy="1025472"/>
      </dsp:txXfrm>
    </dsp:sp>
    <dsp:sp modelId="{E89E5ABE-CE06-41C0-83A3-A5D1A971F168}">
      <dsp:nvSpPr>
        <dsp:cNvPr id="0" name=""/>
        <dsp:cNvSpPr/>
      </dsp:nvSpPr>
      <dsp:spPr>
        <a:xfrm>
          <a:off x="767210" y="2574664"/>
          <a:ext cx="4614801" cy="1089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developed</a:t>
          </a:r>
          <a:r>
            <a:rPr lang="en-US" sz="1800" kern="1200" dirty="0"/>
            <a:t> (41 countries)</a:t>
          </a:r>
        </a:p>
      </dsp:txBody>
      <dsp:txXfrm>
        <a:off x="799114" y="2606568"/>
        <a:ext cx="3462239" cy="1025472"/>
      </dsp:txXfrm>
    </dsp:sp>
    <dsp:sp modelId="{EAFA0158-C614-4FE2-891C-388668181248}">
      <dsp:nvSpPr>
        <dsp:cNvPr id="0" name=""/>
        <dsp:cNvSpPr/>
      </dsp:nvSpPr>
      <dsp:spPr>
        <a:xfrm>
          <a:off x="1153700" y="3861996"/>
          <a:ext cx="4614801" cy="1089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least developed </a:t>
          </a:r>
          <a:r>
            <a:rPr lang="en-US" sz="1800" kern="1200" dirty="0"/>
            <a:t>(43 countries)</a:t>
          </a:r>
        </a:p>
      </dsp:txBody>
      <dsp:txXfrm>
        <a:off x="1185604" y="3893900"/>
        <a:ext cx="3456471" cy="1025472"/>
      </dsp:txXfrm>
    </dsp:sp>
    <dsp:sp modelId="{477BECBB-E87C-46B1-8828-F201CFAFC1C2}">
      <dsp:nvSpPr>
        <dsp:cNvPr id="0" name=""/>
        <dsp:cNvSpPr/>
      </dsp:nvSpPr>
      <dsp:spPr>
        <a:xfrm>
          <a:off x="3906768" y="834290"/>
          <a:ext cx="708032" cy="70803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066075" y="834290"/>
        <a:ext cx="389418" cy="532794"/>
      </dsp:txXfrm>
    </dsp:sp>
    <dsp:sp modelId="{06C8B56B-85AA-488F-B84D-5E6D559930DB}">
      <dsp:nvSpPr>
        <dsp:cNvPr id="0" name=""/>
        <dsp:cNvSpPr/>
      </dsp:nvSpPr>
      <dsp:spPr>
        <a:xfrm>
          <a:off x="3125939" y="2201098"/>
          <a:ext cx="708032" cy="70803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3285246" y="2201098"/>
        <a:ext cx="389418" cy="532794"/>
      </dsp:txXfrm>
    </dsp:sp>
    <dsp:sp modelId="{59120873-735E-4F04-A0BE-2186EE948985}">
      <dsp:nvSpPr>
        <dsp:cNvPr id="0" name=""/>
        <dsp:cNvSpPr/>
      </dsp:nvSpPr>
      <dsp:spPr>
        <a:xfrm>
          <a:off x="4267979" y="2161269"/>
          <a:ext cx="708032" cy="194538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4427286" y="2161269"/>
        <a:ext cx="389418" cy="17701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37EDD4-88D1-4A3D-9A7D-AEE3F3CA5D66}">
      <dsp:nvSpPr>
        <dsp:cNvPr id="0" name=""/>
        <dsp:cNvSpPr/>
      </dsp:nvSpPr>
      <dsp:spPr>
        <a:xfrm>
          <a:off x="0" y="212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B281B8-2DA6-49B8-A106-9E94E4759DCB}">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World War II had a significant impact on the economic growth of</a:t>
          </a:r>
          <a:r>
            <a:rPr lang="en-US" sz="2000" b="1" kern="1200" dirty="0"/>
            <a:t> developed </a:t>
          </a:r>
          <a:r>
            <a:rPr lang="en-US" sz="2000" kern="1200" dirty="0"/>
            <a:t>and </a:t>
          </a:r>
          <a:r>
            <a:rPr lang="en-US" sz="2000" b="1" kern="1200" dirty="0"/>
            <a:t>developing countries</a:t>
          </a:r>
          <a:r>
            <a:rPr lang="en-US" sz="2000" kern="1200" dirty="0"/>
            <a:t>, slowing the growth of </a:t>
          </a:r>
          <a:r>
            <a:rPr lang="en-US" sz="2000" b="1" u="sng" kern="1200" dirty="0"/>
            <a:t>Gross National Income (GNI) </a:t>
          </a:r>
          <a:r>
            <a:rPr lang="en-US" sz="2000" kern="1200" dirty="0"/>
            <a:t>during the war period. In contrast, </a:t>
          </a:r>
          <a:r>
            <a:rPr lang="en-US" sz="2000" b="1" kern="1200" dirty="0"/>
            <a:t>least developed </a:t>
          </a:r>
          <a:r>
            <a:rPr lang="en-US" sz="2000" kern="1200" dirty="0"/>
            <a:t>countries showed no clear short-term disruption in GNI growth.</a:t>
          </a:r>
        </a:p>
      </dsp:txBody>
      <dsp:txXfrm>
        <a:off x="0" y="2124"/>
        <a:ext cx="10515600" cy="1449029"/>
      </dsp:txXfrm>
    </dsp:sp>
    <dsp:sp modelId="{9CFD683D-197A-4488-AFA9-B5DC90330876}">
      <dsp:nvSpPr>
        <dsp:cNvPr id="0" name=""/>
        <dsp:cNvSpPr/>
      </dsp:nvSpPr>
      <dsp:spPr>
        <a:xfrm>
          <a:off x="0" y="145115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917FCD-1991-462D-8C34-60C54C349138}">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The war also had a stronger effect on </a:t>
          </a:r>
          <a:r>
            <a:rPr lang="en-US" sz="2000" b="1" u="sng" kern="1200" dirty="0"/>
            <a:t>life expectancy </a:t>
          </a:r>
          <a:r>
            <a:rPr lang="en-US" sz="2000" kern="1200" dirty="0"/>
            <a:t>in </a:t>
          </a:r>
          <a:r>
            <a:rPr lang="en-US" sz="2000" b="1" kern="1200" dirty="0"/>
            <a:t>developed and industrialized countries</a:t>
          </a:r>
          <a:r>
            <a:rPr lang="en-US" sz="2000" kern="1200" dirty="0"/>
            <a:t>, where wartime destruction and social disruption caused temporary declines and instability. Meanwhile</a:t>
          </a:r>
          <a:r>
            <a:rPr lang="en-US" sz="2000" b="1" kern="1200" dirty="0"/>
            <a:t>, least developed countries </a:t>
          </a:r>
          <a:r>
            <a:rPr lang="en-US" sz="2000" kern="1200" dirty="0"/>
            <a:t>experienced more limited short-term effects but continued to maintain lower life expectancy levels throughout the studied period.</a:t>
          </a:r>
        </a:p>
      </dsp:txBody>
      <dsp:txXfrm>
        <a:off x="0" y="1451154"/>
        <a:ext cx="10515600" cy="1449029"/>
      </dsp:txXfrm>
    </dsp:sp>
    <dsp:sp modelId="{E209E684-29C0-4E01-9F07-4D50670506BB}">
      <dsp:nvSpPr>
        <dsp:cNvPr id="0" name=""/>
        <dsp:cNvSpPr/>
      </dsp:nvSpPr>
      <dsp:spPr>
        <a:xfrm>
          <a:off x="0" y="2900183"/>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E8E019-357B-4906-B830-A610933B8465}">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After World War II, </a:t>
          </a:r>
          <a:r>
            <a:rPr lang="en-US" sz="2000" b="1" u="sng" kern="1200" dirty="0"/>
            <a:t>CO₂ emissions </a:t>
          </a:r>
          <a:r>
            <a:rPr lang="en-US" sz="2000" b="1" kern="1200" dirty="0"/>
            <a:t>increased sharply across all country groups</a:t>
          </a:r>
          <a:r>
            <a:rPr lang="en-US" sz="2000" kern="1200" dirty="0"/>
            <a:t>, reflecting rapid industrial expansion and post-war economic recovery. However, </a:t>
          </a:r>
          <a:r>
            <a:rPr lang="en-US" sz="2000" b="1" kern="1200" dirty="0"/>
            <a:t>developed countries </a:t>
          </a:r>
          <a:r>
            <a:rPr lang="en-US" sz="2000" kern="1200" dirty="0"/>
            <a:t>experienced much higher emission growth than the other groups due to faster industrialization and larger-scale economic activity, while </a:t>
          </a:r>
          <a:r>
            <a:rPr lang="en-US" sz="2000" b="1" kern="1200" dirty="0"/>
            <a:t>least developed countries </a:t>
          </a:r>
          <a:r>
            <a:rPr lang="en-US" sz="2000" kern="1200" dirty="0"/>
            <a:t>remained below 1 unit throughout the period.</a:t>
          </a:r>
        </a:p>
      </dsp:txBody>
      <dsp:txXfrm>
        <a:off x="0" y="2900183"/>
        <a:ext cx="10515600" cy="1449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ECC13-C6C1-48A0-B8F3-E8E6C44B3880}">
      <dsp:nvSpPr>
        <dsp:cNvPr id="0" name=""/>
        <dsp:cNvSpPr/>
      </dsp:nvSpPr>
      <dsp:spPr>
        <a:xfrm>
          <a:off x="0" y="2451797"/>
          <a:ext cx="11696281" cy="0"/>
        </a:xfrm>
        <a:prstGeom prst="lin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08EA74-03C0-47F5-B908-D267B0999600}">
      <dsp:nvSpPr>
        <dsp:cNvPr id="0" name=""/>
        <dsp:cNvSpPr/>
      </dsp:nvSpPr>
      <dsp:spPr>
        <a:xfrm>
          <a:off x="282069" y="1520114"/>
          <a:ext cx="4116085" cy="5884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1925–1930s</a:t>
          </a:r>
        </a:p>
      </dsp:txBody>
      <dsp:txXfrm>
        <a:off x="282069" y="1520114"/>
        <a:ext cx="4116085" cy="588431"/>
      </dsp:txXfrm>
    </dsp:sp>
    <dsp:sp modelId="{03E639B9-D12E-4C36-82D4-AC8CEEDD855A}">
      <dsp:nvSpPr>
        <dsp:cNvPr id="0" name=""/>
        <dsp:cNvSpPr/>
      </dsp:nvSpPr>
      <dsp:spPr>
        <a:xfrm>
          <a:off x="282069" y="223266"/>
          <a:ext cx="4116085" cy="129684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Japan experienced rapid industrialization and military expansion, increasing economic growth and industrial production.</a:t>
          </a:r>
        </a:p>
      </dsp:txBody>
      <dsp:txXfrm>
        <a:off x="282069" y="223266"/>
        <a:ext cx="4116085" cy="1296847"/>
      </dsp:txXfrm>
    </dsp:sp>
    <dsp:sp modelId="{F2517C51-5368-41E9-AEA1-4631FEA9DD84}">
      <dsp:nvSpPr>
        <dsp:cNvPr id="0" name=""/>
        <dsp:cNvSpPr/>
      </dsp:nvSpPr>
      <dsp:spPr>
        <a:xfrm>
          <a:off x="2340112" y="2108545"/>
          <a:ext cx="0" cy="343251"/>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5C2B73B-31A1-4FC5-ABA9-89AF023AC4E6}">
      <dsp:nvSpPr>
        <dsp:cNvPr id="0" name=""/>
        <dsp:cNvSpPr/>
      </dsp:nvSpPr>
      <dsp:spPr>
        <a:xfrm>
          <a:off x="2620755" y="2795049"/>
          <a:ext cx="4116085" cy="5884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1939–1945</a:t>
          </a:r>
        </a:p>
      </dsp:txBody>
      <dsp:txXfrm>
        <a:off x="2620755" y="2795049"/>
        <a:ext cx="4116085" cy="588431"/>
      </dsp:txXfrm>
    </dsp:sp>
    <dsp:sp modelId="{A8176985-6C08-42F0-902E-62960DF6238A}">
      <dsp:nvSpPr>
        <dsp:cNvPr id="0" name=""/>
        <dsp:cNvSpPr/>
      </dsp:nvSpPr>
      <dsp:spPr>
        <a:xfrm>
          <a:off x="2620755" y="3383480"/>
          <a:ext cx="4116085" cy="151916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World War II (1939–1945): The war caused major destruction to infrastructure, industry, and civilian life, especially after the atomic bombings of Hiroshima and Nagasaki in 1945.</a:t>
          </a:r>
        </a:p>
      </dsp:txBody>
      <dsp:txXfrm>
        <a:off x="2620755" y="3383480"/>
        <a:ext cx="4116085" cy="1519164"/>
      </dsp:txXfrm>
    </dsp:sp>
    <dsp:sp modelId="{7C9C6B84-0DFE-4888-B6B0-E5AB157BE677}">
      <dsp:nvSpPr>
        <dsp:cNvPr id="0" name=""/>
        <dsp:cNvSpPr/>
      </dsp:nvSpPr>
      <dsp:spPr>
        <a:xfrm>
          <a:off x="4678797" y="2451797"/>
          <a:ext cx="0" cy="343251"/>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7A92CE1-5928-4666-9818-02C382D5859E}">
      <dsp:nvSpPr>
        <dsp:cNvPr id="0" name=""/>
        <dsp:cNvSpPr/>
      </dsp:nvSpPr>
      <dsp:spPr>
        <a:xfrm rot="2700000">
          <a:off x="2301971" y="2413656"/>
          <a:ext cx="76282" cy="76282"/>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15B29C-BC16-41A9-B27E-106B70D75ADA}">
      <dsp:nvSpPr>
        <dsp:cNvPr id="0" name=""/>
        <dsp:cNvSpPr/>
      </dsp:nvSpPr>
      <dsp:spPr>
        <a:xfrm rot="2700000">
          <a:off x="4640656" y="2413656"/>
          <a:ext cx="76282" cy="76282"/>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6E433B-3D24-483A-8395-3BD4A2321D03}">
      <dsp:nvSpPr>
        <dsp:cNvPr id="0" name=""/>
        <dsp:cNvSpPr/>
      </dsp:nvSpPr>
      <dsp:spPr>
        <a:xfrm>
          <a:off x="4959440" y="1520114"/>
          <a:ext cx="4116085" cy="5884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late 1940s–1950s</a:t>
          </a:r>
        </a:p>
      </dsp:txBody>
      <dsp:txXfrm>
        <a:off x="4959440" y="1520114"/>
        <a:ext cx="4116085" cy="588431"/>
      </dsp:txXfrm>
    </dsp:sp>
    <dsp:sp modelId="{3472359F-57E9-490F-B5A9-A93CE2451349}">
      <dsp:nvSpPr>
        <dsp:cNvPr id="0" name=""/>
        <dsp:cNvSpPr/>
      </dsp:nvSpPr>
      <dsp:spPr>
        <a:xfrm>
          <a:off x="4959440" y="223266"/>
          <a:ext cx="4116085" cy="129684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Post-war recovery (late 1940s–1950s): Japan rebuilt through economic reforms, industrial growth, and improvements in healthcare and living conditions.</a:t>
          </a:r>
        </a:p>
      </dsp:txBody>
      <dsp:txXfrm>
        <a:off x="4959440" y="223266"/>
        <a:ext cx="4116085" cy="1296847"/>
      </dsp:txXfrm>
    </dsp:sp>
    <dsp:sp modelId="{46466F05-3A10-44D7-985F-451E63356C88}">
      <dsp:nvSpPr>
        <dsp:cNvPr id="0" name=""/>
        <dsp:cNvSpPr/>
      </dsp:nvSpPr>
      <dsp:spPr>
        <a:xfrm>
          <a:off x="7017483" y="2108545"/>
          <a:ext cx="0" cy="343251"/>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9990E36-6091-475F-B5CB-3C4B39299A8E}">
      <dsp:nvSpPr>
        <dsp:cNvPr id="0" name=""/>
        <dsp:cNvSpPr/>
      </dsp:nvSpPr>
      <dsp:spPr>
        <a:xfrm>
          <a:off x="7298125" y="2795049"/>
          <a:ext cx="4116085" cy="58843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1960</a:t>
          </a:r>
        </a:p>
      </dsp:txBody>
      <dsp:txXfrm>
        <a:off x="7298125" y="2795049"/>
        <a:ext cx="4116085" cy="588431"/>
      </dsp:txXfrm>
    </dsp:sp>
    <dsp:sp modelId="{62795BE3-4B3B-4620-AB1C-D3A4103BD43B}">
      <dsp:nvSpPr>
        <dsp:cNvPr id="0" name=""/>
        <dsp:cNvSpPr/>
      </dsp:nvSpPr>
      <dsp:spPr>
        <a:xfrm>
          <a:off x="7298125" y="3383480"/>
          <a:ext cx="4116085" cy="129684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By 1960: The country entered the early stage of its “economic miracle,” with rising income, longer life expectancy, and increasing industrial emissions.</a:t>
          </a:r>
        </a:p>
      </dsp:txBody>
      <dsp:txXfrm>
        <a:off x="7298125" y="3383480"/>
        <a:ext cx="4116085" cy="1296847"/>
      </dsp:txXfrm>
    </dsp:sp>
    <dsp:sp modelId="{8DEBC60E-5047-40E9-90E0-6ADA17316A6F}">
      <dsp:nvSpPr>
        <dsp:cNvPr id="0" name=""/>
        <dsp:cNvSpPr/>
      </dsp:nvSpPr>
      <dsp:spPr>
        <a:xfrm>
          <a:off x="9356168" y="2451797"/>
          <a:ext cx="0" cy="343251"/>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DE4F657-5ED0-4E5C-AC91-A1DFFFE0D026}">
      <dsp:nvSpPr>
        <dsp:cNvPr id="0" name=""/>
        <dsp:cNvSpPr/>
      </dsp:nvSpPr>
      <dsp:spPr>
        <a:xfrm rot="2700000">
          <a:off x="6979342" y="2413656"/>
          <a:ext cx="76282" cy="76282"/>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F2CCFC-E916-4322-B16E-53E3938062B7}">
      <dsp:nvSpPr>
        <dsp:cNvPr id="0" name=""/>
        <dsp:cNvSpPr/>
      </dsp:nvSpPr>
      <dsp:spPr>
        <a:xfrm rot="2700000">
          <a:off x="9318027" y="2413656"/>
          <a:ext cx="76282" cy="76282"/>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FE8CE6-B3FE-42C0-9286-42B27BBCB914}">
      <dsp:nvSpPr>
        <dsp:cNvPr id="0" name=""/>
        <dsp:cNvSpPr/>
      </dsp:nvSpPr>
      <dsp:spPr>
        <a:xfrm>
          <a:off x="0" y="2320977"/>
          <a:ext cx="11468911" cy="0"/>
        </a:xfrm>
        <a:prstGeom prst="lin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3579A2-26D6-45CC-9210-2FF0B206B0F0}">
      <dsp:nvSpPr>
        <dsp:cNvPr id="0" name=""/>
        <dsp:cNvSpPr/>
      </dsp:nvSpPr>
      <dsp:spPr>
        <a:xfrm>
          <a:off x="276586" y="1439006"/>
          <a:ext cx="4036071" cy="55703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Late 1920s–1930s</a:t>
          </a:r>
        </a:p>
      </dsp:txBody>
      <dsp:txXfrm>
        <a:off x="276586" y="1439006"/>
        <a:ext cx="4036071" cy="557034"/>
      </dsp:txXfrm>
    </dsp:sp>
    <dsp:sp modelId="{CEC7E1F5-D30F-4375-9CE8-A6A03ECCC2A4}">
      <dsp:nvSpPr>
        <dsp:cNvPr id="0" name=""/>
        <dsp:cNvSpPr/>
      </dsp:nvSpPr>
      <dsp:spPr>
        <a:xfrm>
          <a:off x="276586" y="141202"/>
          <a:ext cx="4036071" cy="129780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Germany faced economic instability, including the Great Depression, followed by rapid militarization and industrial growth in the 1930s.</a:t>
          </a:r>
        </a:p>
      </dsp:txBody>
      <dsp:txXfrm>
        <a:off x="276586" y="141202"/>
        <a:ext cx="4036071" cy="1297803"/>
      </dsp:txXfrm>
    </dsp:sp>
    <dsp:sp modelId="{D006CA32-D0EF-4FD4-8071-512D9A04AE63}">
      <dsp:nvSpPr>
        <dsp:cNvPr id="0" name=""/>
        <dsp:cNvSpPr/>
      </dsp:nvSpPr>
      <dsp:spPr>
        <a:xfrm>
          <a:off x="2294622" y="1996040"/>
          <a:ext cx="0" cy="324936"/>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3F89061-590F-4BA1-85DA-F9213058DA3E}">
      <dsp:nvSpPr>
        <dsp:cNvPr id="0" name=""/>
        <dsp:cNvSpPr/>
      </dsp:nvSpPr>
      <dsp:spPr>
        <a:xfrm>
          <a:off x="2569808" y="2645914"/>
          <a:ext cx="4036071" cy="55703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1939–1945</a:t>
          </a:r>
        </a:p>
      </dsp:txBody>
      <dsp:txXfrm>
        <a:off x="2569808" y="2645914"/>
        <a:ext cx="4036071" cy="557034"/>
      </dsp:txXfrm>
    </dsp:sp>
    <dsp:sp modelId="{08CF6CB4-D9E6-4EEC-900B-E7D47BACABBE}">
      <dsp:nvSpPr>
        <dsp:cNvPr id="0" name=""/>
        <dsp:cNvSpPr/>
      </dsp:nvSpPr>
      <dsp:spPr>
        <a:xfrm>
          <a:off x="2569808" y="3202948"/>
          <a:ext cx="4036071" cy="143900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World War II (1939–1945): Germany played a central role in the war, resulting in widespread destruction, economic collapse, and sharp declines in living standards and life expectancy.</a:t>
          </a:r>
        </a:p>
      </dsp:txBody>
      <dsp:txXfrm>
        <a:off x="2569808" y="3202948"/>
        <a:ext cx="4036071" cy="1439006"/>
      </dsp:txXfrm>
    </dsp:sp>
    <dsp:sp modelId="{46D062CF-3CB9-4D70-80CB-A8A39ACBB5D7}">
      <dsp:nvSpPr>
        <dsp:cNvPr id="0" name=""/>
        <dsp:cNvSpPr/>
      </dsp:nvSpPr>
      <dsp:spPr>
        <a:xfrm>
          <a:off x="4587844" y="2320977"/>
          <a:ext cx="0" cy="324936"/>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3EDAA95-973B-41FE-8A95-AD3CF5D7166D}">
      <dsp:nvSpPr>
        <dsp:cNvPr id="0" name=""/>
        <dsp:cNvSpPr/>
      </dsp:nvSpPr>
      <dsp:spPr>
        <a:xfrm rot="2700000">
          <a:off x="2258516" y="2284871"/>
          <a:ext cx="72211" cy="72211"/>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B6DB81-A4CA-49FC-B80D-EFEA3784E5A1}">
      <dsp:nvSpPr>
        <dsp:cNvPr id="0" name=""/>
        <dsp:cNvSpPr/>
      </dsp:nvSpPr>
      <dsp:spPr>
        <a:xfrm rot="2700000">
          <a:off x="4551738" y="2284871"/>
          <a:ext cx="72211" cy="72211"/>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B95858-04B9-4821-8EA4-7CD67DFF9D0A}">
      <dsp:nvSpPr>
        <dsp:cNvPr id="0" name=""/>
        <dsp:cNvSpPr/>
      </dsp:nvSpPr>
      <dsp:spPr>
        <a:xfrm>
          <a:off x="4863031" y="1439006"/>
          <a:ext cx="4036071" cy="55703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1945</a:t>
          </a:r>
        </a:p>
      </dsp:txBody>
      <dsp:txXfrm>
        <a:off x="4863031" y="1439006"/>
        <a:ext cx="4036071" cy="557034"/>
      </dsp:txXfrm>
    </dsp:sp>
    <dsp:sp modelId="{E46225D2-6B95-48FB-AB06-0DC43F3352FD}">
      <dsp:nvSpPr>
        <dsp:cNvPr id="0" name=""/>
        <dsp:cNvSpPr/>
      </dsp:nvSpPr>
      <dsp:spPr>
        <a:xfrm>
          <a:off x="4863031" y="386732"/>
          <a:ext cx="4036071" cy="105227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Post-1945: The country was divided and began reconstruction with international support, including the Marshall Plan.</a:t>
          </a:r>
        </a:p>
      </dsp:txBody>
      <dsp:txXfrm>
        <a:off x="4863031" y="386732"/>
        <a:ext cx="4036071" cy="1052273"/>
      </dsp:txXfrm>
    </dsp:sp>
    <dsp:sp modelId="{CA253A59-202F-454F-BDAB-DF5D2D3B7D59}">
      <dsp:nvSpPr>
        <dsp:cNvPr id="0" name=""/>
        <dsp:cNvSpPr/>
      </dsp:nvSpPr>
      <dsp:spPr>
        <a:xfrm>
          <a:off x="6881066" y="1996040"/>
          <a:ext cx="0" cy="324936"/>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0343AEF-35F8-4083-BFE3-034EA86550EB}">
      <dsp:nvSpPr>
        <dsp:cNvPr id="0" name=""/>
        <dsp:cNvSpPr/>
      </dsp:nvSpPr>
      <dsp:spPr>
        <a:xfrm>
          <a:off x="7156253" y="2645914"/>
          <a:ext cx="4036071" cy="55703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1950s</a:t>
          </a:r>
        </a:p>
      </dsp:txBody>
      <dsp:txXfrm>
        <a:off x="7156253" y="2645914"/>
        <a:ext cx="4036071" cy="557034"/>
      </dsp:txXfrm>
    </dsp:sp>
    <dsp:sp modelId="{FC6FDFF0-256D-49A8-8FE5-57A9A4F982FC}">
      <dsp:nvSpPr>
        <dsp:cNvPr id="0" name=""/>
        <dsp:cNvSpPr/>
      </dsp:nvSpPr>
      <dsp:spPr>
        <a:xfrm>
          <a:off x="7156253" y="3202948"/>
          <a:ext cx="4036071" cy="143900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dirty="0"/>
            <a:t>West Germany experienced the “Wirtschaftswunder” (economic miracle), marked by strong industrial growth, rising GNI, improved living standards, and increasing CO₂ emissions due to rapid industrialization.</a:t>
          </a:r>
        </a:p>
      </dsp:txBody>
      <dsp:txXfrm>
        <a:off x="7156253" y="3202948"/>
        <a:ext cx="4036071" cy="1439006"/>
      </dsp:txXfrm>
    </dsp:sp>
    <dsp:sp modelId="{6940354D-FC55-4CB0-839F-47AD73DA74F7}">
      <dsp:nvSpPr>
        <dsp:cNvPr id="0" name=""/>
        <dsp:cNvSpPr/>
      </dsp:nvSpPr>
      <dsp:spPr>
        <a:xfrm>
          <a:off x="9174288" y="2320977"/>
          <a:ext cx="0" cy="324936"/>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9252DC1-DAE6-451F-A868-9FFD0D2E8ACD}">
      <dsp:nvSpPr>
        <dsp:cNvPr id="0" name=""/>
        <dsp:cNvSpPr/>
      </dsp:nvSpPr>
      <dsp:spPr>
        <a:xfrm rot="2700000">
          <a:off x="6844960" y="2284871"/>
          <a:ext cx="72211" cy="72211"/>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630953-192D-478B-946A-C2D497157DBA}">
      <dsp:nvSpPr>
        <dsp:cNvPr id="0" name=""/>
        <dsp:cNvSpPr/>
      </dsp:nvSpPr>
      <dsp:spPr>
        <a:xfrm rot="2700000">
          <a:off x="9138182" y="2284871"/>
          <a:ext cx="72211" cy="72211"/>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32B503-5969-47BC-ACA2-E011B4BE7E23}" type="datetimeFigureOut">
              <a:rPr lang="en-US" smtClean="0"/>
              <a:t>5/10/2026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1132F7-1AE0-46A2-B05D-5552886F410D}" type="slidenum">
              <a:rPr lang="en-US" smtClean="0"/>
              <a:t>‹#›</a:t>
            </a:fld>
            <a:endParaRPr lang="en-US"/>
          </a:p>
        </p:txBody>
      </p:sp>
    </p:spTree>
    <p:extLst>
      <p:ext uri="{BB962C8B-B14F-4D97-AF65-F5344CB8AC3E}">
        <p14:creationId xmlns:p14="http://schemas.microsoft.com/office/powerpoint/2010/main" val="68823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1132F7-1AE0-46A2-B05D-5552886F410D}" type="slidenum">
              <a:rPr lang="en-US" smtClean="0"/>
              <a:t>3</a:t>
            </a:fld>
            <a:endParaRPr lang="en-US"/>
          </a:p>
        </p:txBody>
      </p:sp>
    </p:spTree>
    <p:extLst>
      <p:ext uri="{BB962C8B-B14F-4D97-AF65-F5344CB8AC3E}">
        <p14:creationId xmlns:p14="http://schemas.microsoft.com/office/powerpoint/2010/main" val="1671593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9BD13-BD80-05FB-01D9-654BBB200D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5CC68B-0A62-440F-1A7C-B5822943FB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30A312-C1D7-0F98-18F5-46565597C00C}"/>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5" name="Footer Placeholder 4">
            <a:extLst>
              <a:ext uri="{FF2B5EF4-FFF2-40B4-BE49-F238E27FC236}">
                <a16:creationId xmlns:a16="http://schemas.microsoft.com/office/drawing/2014/main" id="{88D52B10-898D-17CD-FA24-5D19CBCD5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BAD561-912E-D277-3338-A42B77A88097}"/>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154426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18CEC-98E6-9F70-CF6F-99EB78D20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682DD6-C2D8-8873-E195-7CF1C36541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4DDF61-E4C7-20DA-F9D9-2AA052CAE85B}"/>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5" name="Footer Placeholder 4">
            <a:extLst>
              <a:ext uri="{FF2B5EF4-FFF2-40B4-BE49-F238E27FC236}">
                <a16:creationId xmlns:a16="http://schemas.microsoft.com/office/drawing/2014/main" id="{65678112-C7B9-E6DD-4598-55FAA4F31C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16BC-F7C9-0AE5-DA14-5BB4FCD310D8}"/>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728770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DAFB2-C5FE-5A10-7DC5-C5CD9F271D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3035E8-44BE-D5D9-4413-9010C4C43F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6EDD26-416B-CF5B-B93A-DF1DD4D2F619}"/>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5" name="Footer Placeholder 4">
            <a:extLst>
              <a:ext uri="{FF2B5EF4-FFF2-40B4-BE49-F238E27FC236}">
                <a16:creationId xmlns:a16="http://schemas.microsoft.com/office/drawing/2014/main" id="{63040A60-369A-F9B6-C296-B70C4A25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A45C6-3A74-105B-D221-BEDB2E0C41E4}"/>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3974683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329C-EED5-79F0-A704-7CCDC1D5AB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D637AB-1EA1-5F9A-575C-672BD39C5A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9A0616-3C4B-8ACA-9ECF-43F2094962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D1E075-0764-384E-27F1-D888AEC7B957}"/>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6" name="Footer Placeholder 5">
            <a:extLst>
              <a:ext uri="{FF2B5EF4-FFF2-40B4-BE49-F238E27FC236}">
                <a16:creationId xmlns:a16="http://schemas.microsoft.com/office/drawing/2014/main" id="{EBB5B223-A651-0243-E9F8-3920870595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E106E9-775D-78DB-F2DE-F3BCBBA2C113}"/>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285524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B3B8B-D518-E7A1-60DE-3B25BA85DE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CFB546-16EF-41DD-EB90-4019BD4086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918938-61F2-A97C-46EF-8DACF6D7BF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1370C5-6566-D0CB-2AD9-97286B81A1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1485C2-294E-9692-DE5E-2ABDFC8D61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B0150A-5B31-3C51-A930-4EB3A1267206}"/>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8" name="Footer Placeholder 7">
            <a:extLst>
              <a:ext uri="{FF2B5EF4-FFF2-40B4-BE49-F238E27FC236}">
                <a16:creationId xmlns:a16="http://schemas.microsoft.com/office/drawing/2014/main" id="{0C413B87-DB65-BB10-BD15-37300C3E0C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376F30-7259-3283-DDAD-AE68BF74B4D5}"/>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2353641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F4EC-9689-A894-C819-CF9F6D6DD9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3461B6-988E-0F48-C32A-C8187D86427B}"/>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4" name="Footer Placeholder 3">
            <a:extLst>
              <a:ext uri="{FF2B5EF4-FFF2-40B4-BE49-F238E27FC236}">
                <a16:creationId xmlns:a16="http://schemas.microsoft.com/office/drawing/2014/main" id="{1B0A5D09-1D96-9690-2BE6-81381C9F4D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CD528A-818F-B8C1-6201-D7C8F6B6C2DD}"/>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3495494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244AE-1562-902F-B865-6A54217A6595}"/>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3" name="Footer Placeholder 2">
            <a:extLst>
              <a:ext uri="{FF2B5EF4-FFF2-40B4-BE49-F238E27FC236}">
                <a16:creationId xmlns:a16="http://schemas.microsoft.com/office/drawing/2014/main" id="{987445A1-2B68-D6C7-4464-47E57DAC25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AFA6C-4ED8-14E0-970D-B3AC5537D3D6}"/>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1111690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90625-0416-F143-C139-810575EE0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6854D7-07ED-5AAE-4146-F90B20303A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B21EBC-CBF3-A022-19B3-307867379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2E2D4-1122-114A-3A6D-D2930FBC0E74}"/>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6" name="Footer Placeholder 5">
            <a:extLst>
              <a:ext uri="{FF2B5EF4-FFF2-40B4-BE49-F238E27FC236}">
                <a16:creationId xmlns:a16="http://schemas.microsoft.com/office/drawing/2014/main" id="{6E197268-88B2-50AA-D730-63C894D2F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FECE0-C553-07F4-14FC-3FCC9875BD95}"/>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425780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3773-A9D4-78CC-0537-EB622D1E3C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B5B769-8E33-FA4A-0E04-FCE8314D5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6FCB9E-70AA-1C9C-E99A-9182F417C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F11F9-E24B-538D-1301-320E005AC5D6}"/>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6" name="Footer Placeholder 5">
            <a:extLst>
              <a:ext uri="{FF2B5EF4-FFF2-40B4-BE49-F238E27FC236}">
                <a16:creationId xmlns:a16="http://schemas.microsoft.com/office/drawing/2014/main" id="{165BC9E6-1C39-78EC-5A7D-3FB55569FD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544F7-3A75-A226-622D-99BA55172192}"/>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3102273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ACFEA-4847-DB43-2037-18A8713C30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CCCCE7-5849-BE0A-A308-11DC3AEDC0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465AE-2464-B216-2E3B-E40AF272F0B5}"/>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5" name="Footer Placeholder 4">
            <a:extLst>
              <a:ext uri="{FF2B5EF4-FFF2-40B4-BE49-F238E27FC236}">
                <a16:creationId xmlns:a16="http://schemas.microsoft.com/office/drawing/2014/main" id="{A7A018CF-6232-9B73-A600-1EC7C63BF4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BD0F2-EC82-B66D-FDDD-87274CD33638}"/>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3733509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8C6F0F-199B-9141-2CF0-E3AFEEC5C8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37167D-25E2-C8ED-41F8-6C82C23DF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B57BAF-DF0A-5AB6-6816-4E6FBD5C43F7}"/>
              </a:ext>
            </a:extLst>
          </p:cNvPr>
          <p:cNvSpPr>
            <a:spLocks noGrp="1"/>
          </p:cNvSpPr>
          <p:nvPr>
            <p:ph type="dt" sz="half" idx="10"/>
          </p:nvPr>
        </p:nvSpPr>
        <p:spPr/>
        <p:txBody>
          <a:bodyPr/>
          <a:lstStyle/>
          <a:p>
            <a:fld id="{0F59D306-F305-4E21-9CF9-808A9BA69B7C}" type="datetimeFigureOut">
              <a:rPr lang="en-US" smtClean="0"/>
              <a:t>5/10/2026</a:t>
            </a:fld>
            <a:endParaRPr lang="en-US"/>
          </a:p>
        </p:txBody>
      </p:sp>
      <p:sp>
        <p:nvSpPr>
          <p:cNvPr id="5" name="Footer Placeholder 4">
            <a:extLst>
              <a:ext uri="{FF2B5EF4-FFF2-40B4-BE49-F238E27FC236}">
                <a16:creationId xmlns:a16="http://schemas.microsoft.com/office/drawing/2014/main" id="{CF0662A3-5352-31A0-32FB-76F70B0D60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60FA96-9C18-37D4-F36E-5D7EA5DD1373}"/>
              </a:ext>
            </a:extLst>
          </p:cNvPr>
          <p:cNvSpPr>
            <a:spLocks noGrp="1"/>
          </p:cNvSpPr>
          <p:nvPr>
            <p:ph type="sldNum" sz="quarter" idx="12"/>
          </p:nvPr>
        </p:nvSpPr>
        <p:spPr/>
        <p:txBody>
          <a:bodyPr/>
          <a:lstStyle/>
          <a:p>
            <a:fld id="{5A1E9C45-282A-49BE-B7BE-A2400520D5BE}" type="slidenum">
              <a:rPr lang="en-US" smtClean="0"/>
              <a:t>‹#›</a:t>
            </a:fld>
            <a:endParaRPr lang="en-US"/>
          </a:p>
        </p:txBody>
      </p:sp>
    </p:spTree>
    <p:extLst>
      <p:ext uri="{BB962C8B-B14F-4D97-AF65-F5344CB8AC3E}">
        <p14:creationId xmlns:p14="http://schemas.microsoft.com/office/powerpoint/2010/main" val="135539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4B9494-5A72-D925-F016-723856218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929D92-0440-374A-0540-7331691272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F22252-90D8-AB68-A40E-73530C2B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D306-F305-4E21-9CF9-808A9BA69B7C}" type="datetimeFigureOut">
              <a:rPr lang="en-US" smtClean="0"/>
              <a:t>5/10/2026</a:t>
            </a:fld>
            <a:endParaRPr lang="en-US"/>
          </a:p>
        </p:txBody>
      </p:sp>
      <p:sp>
        <p:nvSpPr>
          <p:cNvPr id="5" name="Footer Placeholder 4">
            <a:extLst>
              <a:ext uri="{FF2B5EF4-FFF2-40B4-BE49-F238E27FC236}">
                <a16:creationId xmlns:a16="http://schemas.microsoft.com/office/drawing/2014/main" id="{5CC53576-9FC0-A7D5-5169-123AE99BD7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7346AF-C320-AC8C-89EB-F441085BA8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1E9C45-282A-49BE-B7BE-A2400520D5BE}" type="slidenum">
              <a:rPr lang="en-US" smtClean="0"/>
              <a:t>‹#›</a:t>
            </a:fld>
            <a:endParaRPr lang="en-US"/>
          </a:p>
        </p:txBody>
      </p:sp>
    </p:spTree>
    <p:extLst>
      <p:ext uri="{BB962C8B-B14F-4D97-AF65-F5344CB8AC3E}">
        <p14:creationId xmlns:p14="http://schemas.microsoft.com/office/powerpoint/2010/main" val="278262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F8C11-DCC2-E0E9-547C-1806631F5725}"/>
              </a:ext>
            </a:extLst>
          </p:cNvPr>
          <p:cNvSpPr>
            <a:spLocks noGrp="1"/>
          </p:cNvSpPr>
          <p:nvPr>
            <p:ph type="ctrTitle"/>
          </p:nvPr>
        </p:nvSpPr>
        <p:spPr>
          <a:xfrm>
            <a:off x="627321" y="1297173"/>
            <a:ext cx="10664455" cy="1097552"/>
          </a:xfrm>
        </p:spPr>
        <p:txBody>
          <a:bodyPr>
            <a:normAutofit/>
          </a:bodyPr>
          <a:lstStyle/>
          <a:p>
            <a:r>
              <a:rPr lang="en-US" sz="5400" b="1" dirty="0">
                <a:latin typeface="Calisto MT" panose="02040603050505030304" pitchFamily="18" charset="0"/>
              </a:rPr>
              <a:t>World Development Statistics</a:t>
            </a:r>
          </a:p>
        </p:txBody>
      </p:sp>
      <p:sp>
        <p:nvSpPr>
          <p:cNvPr id="3" name="Subtitle 2">
            <a:extLst>
              <a:ext uri="{FF2B5EF4-FFF2-40B4-BE49-F238E27FC236}">
                <a16:creationId xmlns:a16="http://schemas.microsoft.com/office/drawing/2014/main" id="{7B11E18B-923F-D079-215C-F6600530B0AE}"/>
              </a:ext>
            </a:extLst>
          </p:cNvPr>
          <p:cNvSpPr>
            <a:spLocks noGrp="1"/>
          </p:cNvSpPr>
          <p:nvPr>
            <p:ph type="subTitle" idx="1"/>
          </p:nvPr>
        </p:nvSpPr>
        <p:spPr>
          <a:xfrm>
            <a:off x="1524000" y="4143983"/>
            <a:ext cx="9144000" cy="1975055"/>
          </a:xfrm>
        </p:spPr>
        <p:txBody>
          <a:bodyPr>
            <a:normAutofit lnSpcReduction="10000"/>
          </a:bodyPr>
          <a:lstStyle/>
          <a:p>
            <a:pPr algn="l">
              <a:spcBef>
                <a:spcPct val="0"/>
              </a:spcBef>
            </a:pPr>
            <a:r>
              <a:rPr lang="en-US" sz="4000" b="1" dirty="0">
                <a:latin typeface="Calisto MT" panose="02040603050505030304" pitchFamily="18" charset="0"/>
                <a:ea typeface="+mj-ea"/>
                <a:cs typeface="+mj-cs"/>
              </a:rPr>
              <a:t>Done By: </a:t>
            </a:r>
            <a:endParaRPr lang="ar-BH" sz="4000" b="1" dirty="0">
              <a:latin typeface="Calisto MT" panose="02040603050505030304" pitchFamily="18" charset="0"/>
              <a:ea typeface="+mj-ea"/>
              <a:cs typeface="+mj-cs"/>
            </a:endParaRPr>
          </a:p>
          <a:p>
            <a:pPr marL="457200" indent="-457200" algn="l">
              <a:lnSpc>
                <a:spcPct val="150000"/>
              </a:lnSpc>
              <a:spcBef>
                <a:spcPct val="0"/>
              </a:spcBef>
              <a:buFont typeface="Arial" panose="020B0604020202020204" pitchFamily="34" charset="0"/>
              <a:buChar char="•"/>
            </a:pPr>
            <a:r>
              <a:rPr lang="en-US" sz="3200" b="1" dirty="0">
                <a:latin typeface="Calisto MT" panose="02040603050505030304" pitchFamily="18" charset="0"/>
                <a:ea typeface="+mj-ea"/>
                <a:cs typeface="+mj-cs"/>
              </a:rPr>
              <a:t>Safa Aljeshi </a:t>
            </a:r>
          </a:p>
          <a:p>
            <a:pPr marL="457200" indent="-457200" algn="l">
              <a:lnSpc>
                <a:spcPct val="150000"/>
              </a:lnSpc>
              <a:spcBef>
                <a:spcPct val="0"/>
              </a:spcBef>
              <a:buFont typeface="Arial" panose="020B0604020202020204" pitchFamily="34" charset="0"/>
              <a:buChar char="•"/>
            </a:pPr>
            <a:r>
              <a:rPr lang="en-US" sz="3200" b="1" dirty="0">
                <a:latin typeface="Calisto MT" panose="02040603050505030304" pitchFamily="18" charset="0"/>
                <a:ea typeface="+mj-ea"/>
                <a:cs typeface="+mj-cs"/>
              </a:rPr>
              <a:t>Shaikha Ali</a:t>
            </a:r>
          </a:p>
        </p:txBody>
      </p:sp>
      <p:sp>
        <p:nvSpPr>
          <p:cNvPr id="4" name="TextBox 3">
            <a:extLst>
              <a:ext uri="{FF2B5EF4-FFF2-40B4-BE49-F238E27FC236}">
                <a16:creationId xmlns:a16="http://schemas.microsoft.com/office/drawing/2014/main" id="{4039BAC1-D10F-6E2D-B51B-B28AB8966C3D}"/>
              </a:ext>
            </a:extLst>
          </p:cNvPr>
          <p:cNvSpPr txBox="1"/>
          <p:nvPr/>
        </p:nvSpPr>
        <p:spPr>
          <a:xfrm>
            <a:off x="1848255" y="2500009"/>
            <a:ext cx="8093413" cy="584775"/>
          </a:xfrm>
          <a:prstGeom prst="rect">
            <a:avLst/>
          </a:prstGeom>
          <a:noFill/>
        </p:spPr>
        <p:txBody>
          <a:bodyPr wrap="square" rtlCol="0">
            <a:spAutoFit/>
          </a:bodyPr>
          <a:lstStyle/>
          <a:p>
            <a:pPr algn="ctr"/>
            <a:r>
              <a:rPr lang="en-US" sz="3200" b="1" u="sng" dirty="0">
                <a:latin typeface="Calisto MT" panose="02040603050505030304" pitchFamily="18" charset="0"/>
              </a:rPr>
              <a:t>The impact of world war2 on life quality</a:t>
            </a:r>
            <a:endParaRPr lang="en-US" sz="3200" u="sng" dirty="0"/>
          </a:p>
        </p:txBody>
      </p:sp>
    </p:spTree>
    <p:extLst>
      <p:ext uri="{BB962C8B-B14F-4D97-AF65-F5344CB8AC3E}">
        <p14:creationId xmlns:p14="http://schemas.microsoft.com/office/powerpoint/2010/main" val="927646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BECF-475D-F0AF-6E09-E5077710D3F2}"/>
              </a:ext>
            </a:extLst>
          </p:cNvPr>
          <p:cNvSpPr>
            <a:spLocks noGrp="1"/>
          </p:cNvSpPr>
          <p:nvPr>
            <p:ph type="title"/>
          </p:nvPr>
        </p:nvSpPr>
        <p:spPr>
          <a:xfrm>
            <a:off x="838200" y="365126"/>
            <a:ext cx="10515600" cy="751294"/>
          </a:xfrm>
        </p:spPr>
        <p:txBody>
          <a:bodyPr/>
          <a:lstStyle/>
          <a:p>
            <a:r>
              <a:rPr lang="en-US" b="1">
                <a:latin typeface="Calisto MT" panose="02040603050505030304" pitchFamily="18" charset="0"/>
              </a:rPr>
              <a:t>Introduction</a:t>
            </a:r>
            <a:endParaRPr lang="en-US"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A659EC8B-91FD-D76D-C506-91EEA537C0BA}"/>
              </a:ext>
            </a:extLst>
          </p:cNvPr>
          <p:cNvSpPr>
            <a:spLocks noGrp="1"/>
          </p:cNvSpPr>
          <p:nvPr>
            <p:ph idx="1"/>
          </p:nvPr>
        </p:nvSpPr>
        <p:spPr>
          <a:xfrm>
            <a:off x="738850" y="2254556"/>
            <a:ext cx="10441172" cy="3484763"/>
          </a:xfrm>
        </p:spPr>
        <p:txBody>
          <a:bodyPr>
            <a:normAutofit/>
          </a:bodyPr>
          <a:lstStyle/>
          <a:p>
            <a:pPr marL="0" indent="0">
              <a:buNone/>
            </a:pPr>
            <a:r>
              <a:rPr lang="en-US" b="1" dirty="0"/>
              <a:t>World War II (</a:t>
            </a:r>
            <a:r>
              <a:rPr lang="en-US" b="1" dirty="0">
                <a:solidFill>
                  <a:srgbClr val="501BE5"/>
                </a:solidFill>
              </a:rPr>
              <a:t>1939-1945</a:t>
            </a:r>
            <a:r>
              <a:rPr lang="en-US" b="1" dirty="0"/>
              <a:t>) had major social, economic, and environmental impacts worldwide</a:t>
            </a:r>
            <a:r>
              <a:rPr lang="en-US" dirty="0"/>
              <a:t>. This project analyzes data from </a:t>
            </a:r>
            <a:r>
              <a:rPr lang="en-US" dirty="0">
                <a:solidFill>
                  <a:srgbClr val="501BE5"/>
                </a:solidFill>
              </a:rPr>
              <a:t>1925–1960</a:t>
            </a:r>
            <a:r>
              <a:rPr lang="en-US" dirty="0"/>
              <a:t> to examine changes </a:t>
            </a:r>
            <a:r>
              <a:rPr lang="en-US" b="1" dirty="0"/>
              <a:t>in life expectancy, Gross National Income (GNI), and CO₂ emissions before, during, and after the war</a:t>
            </a:r>
            <a:r>
              <a:rPr lang="en-US" dirty="0"/>
              <a:t>. It also explores how countries such as Germany and Japan recovered from the war’s effects and how industrial growth influenced economic development, quality of life, and environmental change over time.</a:t>
            </a:r>
          </a:p>
        </p:txBody>
      </p:sp>
    </p:spTree>
    <p:extLst>
      <p:ext uri="{BB962C8B-B14F-4D97-AF65-F5344CB8AC3E}">
        <p14:creationId xmlns:p14="http://schemas.microsoft.com/office/powerpoint/2010/main" val="3154604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843E-6D1C-A4D3-9377-AF7E9E7EEC86}"/>
              </a:ext>
            </a:extLst>
          </p:cNvPr>
          <p:cNvSpPr>
            <a:spLocks noGrp="1"/>
          </p:cNvSpPr>
          <p:nvPr>
            <p:ph type="title"/>
          </p:nvPr>
        </p:nvSpPr>
        <p:spPr/>
        <p:txBody>
          <a:bodyPr/>
          <a:lstStyle/>
          <a:p>
            <a:r>
              <a:rPr lang="en-US" b="1" dirty="0">
                <a:latin typeface="Calisto MT" panose="02040603050505030304" pitchFamily="18" charset="0"/>
              </a:rPr>
              <a:t>Problem Statement</a:t>
            </a:r>
            <a:br>
              <a:rPr lang="en-US" dirty="0"/>
            </a:br>
            <a:endParaRPr lang="en-US" dirty="0"/>
          </a:p>
        </p:txBody>
      </p:sp>
      <p:sp>
        <p:nvSpPr>
          <p:cNvPr id="3" name="Content Placeholder 2">
            <a:extLst>
              <a:ext uri="{FF2B5EF4-FFF2-40B4-BE49-F238E27FC236}">
                <a16:creationId xmlns:a16="http://schemas.microsoft.com/office/drawing/2014/main" id="{239A23D7-353D-F029-B504-9BFB55DDBE86}"/>
              </a:ext>
            </a:extLst>
          </p:cNvPr>
          <p:cNvSpPr>
            <a:spLocks noGrp="1"/>
          </p:cNvSpPr>
          <p:nvPr>
            <p:ph idx="1"/>
          </p:nvPr>
        </p:nvSpPr>
        <p:spPr>
          <a:xfrm>
            <a:off x="838200" y="1573619"/>
            <a:ext cx="10515600" cy="4603344"/>
          </a:xfrm>
        </p:spPr>
        <p:txBody>
          <a:bodyPr>
            <a:normAutofit/>
          </a:bodyPr>
          <a:lstStyle/>
          <a:p>
            <a:pPr>
              <a:lnSpc>
                <a:spcPct val="100000"/>
              </a:lnSpc>
            </a:pPr>
            <a:r>
              <a:rPr lang="en-US" sz="2500" dirty="0"/>
              <a:t>This project analyzes historical data on Gross National Income (GNI) per capita, life expectancy, and CO₂ emissions during and after World War II. Covering the period from 1925 to 1960, the study examines how the war influenced economic conditions, environmental indicators, and human quality of life, with particular focus on industrialized countries such as Germany and Japan.</a:t>
            </a:r>
          </a:p>
          <a:p>
            <a:pPr>
              <a:lnSpc>
                <a:spcPct val="100000"/>
              </a:lnSpc>
            </a:pPr>
            <a:r>
              <a:rPr lang="en-US" sz="2500" dirty="0"/>
              <a:t>The project also investigates patterns of decline and recovery associated with wartime destruction and post-war reconstruction. By analyzing these historical trends, the study aims to provide a clearer understanding of the long-term economic, social, and environmental impacts of large-scale global conflict.</a:t>
            </a:r>
          </a:p>
        </p:txBody>
      </p:sp>
    </p:spTree>
    <p:extLst>
      <p:ext uri="{BB962C8B-B14F-4D97-AF65-F5344CB8AC3E}">
        <p14:creationId xmlns:p14="http://schemas.microsoft.com/office/powerpoint/2010/main" val="192195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9603-CE6A-7CC3-C039-C4AE549C2BC7}"/>
              </a:ext>
            </a:extLst>
          </p:cNvPr>
          <p:cNvSpPr>
            <a:spLocks noGrp="1"/>
          </p:cNvSpPr>
          <p:nvPr>
            <p:ph type="title"/>
          </p:nvPr>
        </p:nvSpPr>
        <p:spPr>
          <a:xfrm>
            <a:off x="338470" y="237534"/>
            <a:ext cx="10515600" cy="1325563"/>
          </a:xfrm>
        </p:spPr>
        <p:txBody>
          <a:bodyPr/>
          <a:lstStyle/>
          <a:p>
            <a:r>
              <a:rPr lang="en-US" b="1" dirty="0">
                <a:latin typeface="Calisto MT" panose="02040603050505030304" pitchFamily="18" charset="0"/>
              </a:rPr>
              <a:t>Objectives</a:t>
            </a:r>
            <a:r>
              <a:rPr lang="en-US" dirty="0"/>
              <a:t>:</a:t>
            </a:r>
          </a:p>
        </p:txBody>
      </p:sp>
      <p:sp>
        <p:nvSpPr>
          <p:cNvPr id="3" name="Content Placeholder 2">
            <a:extLst>
              <a:ext uri="{FF2B5EF4-FFF2-40B4-BE49-F238E27FC236}">
                <a16:creationId xmlns:a16="http://schemas.microsoft.com/office/drawing/2014/main" id="{16855C6B-2E29-F089-B4B8-D7954F17E808}"/>
              </a:ext>
            </a:extLst>
          </p:cNvPr>
          <p:cNvSpPr>
            <a:spLocks noGrp="1"/>
          </p:cNvSpPr>
          <p:nvPr>
            <p:ph idx="1"/>
          </p:nvPr>
        </p:nvSpPr>
        <p:spPr>
          <a:xfrm>
            <a:off x="861236" y="1392864"/>
            <a:ext cx="10992293" cy="5092995"/>
          </a:xfrm>
        </p:spPr>
        <p:txBody>
          <a:bodyPr>
            <a:normAutofit fontScale="92500" lnSpcReduction="10000"/>
          </a:bodyPr>
          <a:lstStyle/>
          <a:p>
            <a:pPr>
              <a:lnSpc>
                <a:spcPct val="120000"/>
              </a:lnSpc>
            </a:pPr>
            <a:r>
              <a:rPr lang="en-US" sz="2400" dirty="0"/>
              <a:t>To analyze historical trends in Gross National Income (GNI) per capita, life expectancy, and CO₂ emissions between 1925 and 1960. </a:t>
            </a:r>
          </a:p>
          <a:p>
            <a:pPr>
              <a:lnSpc>
                <a:spcPct val="120000"/>
              </a:lnSpc>
            </a:pPr>
            <a:r>
              <a:rPr lang="en-US" sz="2400" dirty="0"/>
              <a:t>To examine the impact of World War II on economic conditions, environmental indicators, and human quality of life. </a:t>
            </a:r>
          </a:p>
          <a:p>
            <a:pPr>
              <a:lnSpc>
                <a:spcPct val="120000"/>
              </a:lnSpc>
            </a:pPr>
            <a:r>
              <a:rPr lang="en-US" sz="2400" dirty="0"/>
              <a:t>To compare patterns of decline and recovery in industrialized countries such as Germany and Japan during and after the war period.</a:t>
            </a:r>
          </a:p>
          <a:p>
            <a:pPr>
              <a:lnSpc>
                <a:spcPct val="120000"/>
              </a:lnSpc>
            </a:pPr>
            <a:r>
              <a:rPr lang="en-US" sz="2400" dirty="0"/>
              <a:t> To identify how major historical events influenced industrial activity, public health, and economic growth over time. </a:t>
            </a:r>
          </a:p>
          <a:p>
            <a:pPr>
              <a:lnSpc>
                <a:spcPct val="120000"/>
              </a:lnSpc>
            </a:pPr>
            <a:r>
              <a:rPr lang="en-US" sz="2400" dirty="0"/>
              <a:t>To visualize historical trends using data analysis and graphical representations in Python. </a:t>
            </a:r>
          </a:p>
          <a:p>
            <a:pPr>
              <a:lnSpc>
                <a:spcPct val="120000"/>
              </a:lnSpc>
            </a:pPr>
            <a:r>
              <a:rPr lang="en-US" sz="2400" dirty="0"/>
              <a:t>To raise awareness of the long-term social, economic, and environmental consequences of global conflicts.</a:t>
            </a:r>
            <a:endParaRPr lang="en-US" sz="2400" b="1" dirty="0">
              <a:latin typeface="Calisto MT" panose="02040603050505030304" pitchFamily="18" charset="0"/>
            </a:endParaRPr>
          </a:p>
        </p:txBody>
      </p:sp>
    </p:spTree>
    <p:extLst>
      <p:ext uri="{BB962C8B-B14F-4D97-AF65-F5344CB8AC3E}">
        <p14:creationId xmlns:p14="http://schemas.microsoft.com/office/powerpoint/2010/main" val="2508410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3F0292-54D0-5099-29C7-5C7A73B718AE}"/>
              </a:ext>
            </a:extLst>
          </p:cNvPr>
          <p:cNvSpPr>
            <a:spLocks noGrp="1"/>
          </p:cNvSpPr>
          <p:nvPr>
            <p:ph type="ctrTitle"/>
          </p:nvPr>
        </p:nvSpPr>
        <p:spPr>
          <a:xfrm>
            <a:off x="2197101" y="735283"/>
            <a:ext cx="4978399" cy="3165045"/>
          </a:xfrm>
        </p:spPr>
        <p:txBody>
          <a:bodyPr anchor="b">
            <a:normAutofit/>
          </a:bodyPr>
          <a:lstStyle/>
          <a:p>
            <a:pPr algn="l"/>
            <a:r>
              <a:rPr lang="it-IT" sz="5200" b="1"/>
              <a:t>Gross National Income (GNI) per capita</a:t>
            </a:r>
            <a:endParaRPr lang="en-US" sz="5200" b="1"/>
          </a:p>
        </p:txBody>
      </p:sp>
      <p:sp>
        <p:nvSpPr>
          <p:cNvPr id="3" name="Subtitle 2">
            <a:extLst>
              <a:ext uri="{FF2B5EF4-FFF2-40B4-BE49-F238E27FC236}">
                <a16:creationId xmlns:a16="http://schemas.microsoft.com/office/drawing/2014/main" id="{A5579671-A2C5-0BA7-5A24-BF2D651AD473}"/>
              </a:ext>
            </a:extLst>
          </p:cNvPr>
          <p:cNvSpPr>
            <a:spLocks noGrp="1"/>
          </p:cNvSpPr>
          <p:nvPr>
            <p:ph type="subTitle" idx="1"/>
          </p:nvPr>
        </p:nvSpPr>
        <p:spPr>
          <a:xfrm>
            <a:off x="2197101" y="4078423"/>
            <a:ext cx="4978399" cy="2058657"/>
          </a:xfrm>
        </p:spPr>
        <p:txBody>
          <a:bodyPr>
            <a:normAutofit/>
          </a:bodyPr>
          <a:lstStyle/>
          <a:p>
            <a:pPr algn="l"/>
            <a:r>
              <a:rPr lang="en-US"/>
              <a:t>(worldwide study)</a:t>
            </a:r>
          </a:p>
        </p:txBody>
      </p:sp>
      <p:pic>
        <p:nvPicPr>
          <p:cNvPr id="7" name="Graphic 6" descr="Dollar">
            <a:extLst>
              <a:ext uri="{FF2B5EF4-FFF2-40B4-BE49-F238E27FC236}">
                <a16:creationId xmlns:a16="http://schemas.microsoft.com/office/drawing/2014/main" id="{C809805F-4969-04C2-7AD4-949CA5687D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7549" y="2776619"/>
            <a:ext cx="1289051" cy="1289051"/>
          </a:xfrm>
          <a:prstGeom prst="rect">
            <a:avLst/>
          </a:prstGeom>
        </p:spPr>
      </p:pic>
      <p:pic>
        <p:nvPicPr>
          <p:cNvPr id="9" name="Graphic 8" descr="Dollar">
            <a:extLst>
              <a:ext uri="{FF2B5EF4-FFF2-40B4-BE49-F238E27FC236}">
                <a16:creationId xmlns:a16="http://schemas.microsoft.com/office/drawing/2014/main" id="{D2C00AFB-4958-4D9F-8FFB-3F80801857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850534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B8DF101-8D11-B16A-AD0D-AAE0FC723A11}"/>
              </a:ext>
            </a:extLst>
          </p:cNvPr>
          <p:cNvSpPr txBox="1"/>
          <p:nvPr/>
        </p:nvSpPr>
        <p:spPr>
          <a:xfrm>
            <a:off x="120580" y="241160"/>
            <a:ext cx="5975417" cy="59989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1" dirty="0"/>
              <a:t>We divide the countries into their classification groups: </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b="1" dirty="0"/>
              <a:t>Developed Countries:</a:t>
            </a:r>
            <a:r>
              <a:rPr lang="en-US" dirty="0"/>
              <a:t> Nations with advanced economies, high industrialization, strong infrastructure, high income levels, and better quality of life indicators such as healthcare, education, and life expectancy.</a:t>
            </a:r>
          </a:p>
          <a:p>
            <a:pPr indent="-228600">
              <a:lnSpc>
                <a:spcPct val="90000"/>
              </a:lnSpc>
              <a:spcAft>
                <a:spcPts val="600"/>
              </a:spcAft>
              <a:buFont typeface="Arial" panose="020B0604020202020204" pitchFamily="34" charset="0"/>
              <a:buChar char="•"/>
            </a:pPr>
            <a:r>
              <a:rPr lang="en-US" b="1" dirty="0"/>
              <a:t>Developing Countries:</a:t>
            </a:r>
            <a:r>
              <a:rPr lang="en-US" dirty="0"/>
              <a:t> Nations that are still improving their economies and infrastructure. They generally have moderate income levels and are experiencing industrial and social growth but may still face challenges in healthcare, education, or poverty reduction.</a:t>
            </a:r>
          </a:p>
          <a:p>
            <a:pPr indent="-228600">
              <a:lnSpc>
                <a:spcPct val="90000"/>
              </a:lnSpc>
              <a:spcAft>
                <a:spcPts val="600"/>
              </a:spcAft>
              <a:buFont typeface="Arial" panose="020B0604020202020204" pitchFamily="34" charset="0"/>
              <a:buChar char="•"/>
            </a:pPr>
            <a:r>
              <a:rPr lang="en-US" b="1" dirty="0"/>
              <a:t>Least Developed Countries (LDCs):</a:t>
            </a:r>
            <a:r>
              <a:rPr lang="en-US" dirty="0"/>
              <a:t> Nations with the lowest levels of income, industrialization, and human development. These countries often face severe economic challenges, limited infrastructure, weaker healthcare and education systems, and higher poverty rates.</a:t>
            </a:r>
          </a:p>
        </p:txBody>
      </p:sp>
      <p:pic>
        <p:nvPicPr>
          <p:cNvPr id="24" name="Picture 23" descr="A world map made of pins and strings">
            <a:extLst>
              <a:ext uri="{FF2B5EF4-FFF2-40B4-BE49-F238E27FC236}">
                <a16:creationId xmlns:a16="http://schemas.microsoft.com/office/drawing/2014/main" id="{92FFA2CE-3252-8076-56EE-659751280C77}"/>
              </a:ext>
            </a:extLst>
          </p:cNvPr>
          <p:cNvPicPr>
            <a:picLocks noChangeAspect="1"/>
          </p:cNvPicPr>
          <p:nvPr/>
        </p:nvPicPr>
        <p:blipFill>
          <a:blip r:embed="rId2"/>
          <a:srcRect l="25205" r="22959"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424363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3">
            <a:extLst>
              <a:ext uri="{FF2B5EF4-FFF2-40B4-BE49-F238E27FC236}">
                <a16:creationId xmlns:a16="http://schemas.microsoft.com/office/drawing/2014/main" id="{D081EE2E-9AB6-3DE1-C1C5-D5A160577F94}"/>
              </a:ext>
            </a:extLst>
          </p:cNvPr>
          <p:cNvGraphicFramePr>
            <a:graphicFrameLocks/>
          </p:cNvGraphicFramePr>
          <p:nvPr>
            <p:extLst>
              <p:ext uri="{D42A27DB-BD31-4B8C-83A1-F6EECF244321}">
                <p14:modId xmlns:p14="http://schemas.microsoft.com/office/powerpoint/2010/main" val="1591081528"/>
              </p:ext>
            </p:extLst>
          </p:nvPr>
        </p:nvGraphicFramePr>
        <p:xfrm>
          <a:off x="103762" y="864158"/>
          <a:ext cx="5768502" cy="4951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519C9AFF-955F-1F45-FB5C-8CF4A63478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7638" y="864158"/>
            <a:ext cx="5930354" cy="5436158"/>
          </a:xfrm>
          <a:prstGeom prst="rect">
            <a:avLst/>
          </a:prstGeom>
        </p:spPr>
      </p:pic>
    </p:spTree>
    <p:extLst>
      <p:ext uri="{BB962C8B-B14F-4D97-AF65-F5344CB8AC3E}">
        <p14:creationId xmlns:p14="http://schemas.microsoft.com/office/powerpoint/2010/main" val="2488926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9411370-8906-7814-D1FE-708706EB5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106" y="230530"/>
            <a:ext cx="9354331" cy="4297689"/>
          </a:xfrm>
          <a:prstGeom prst="rect">
            <a:avLst/>
          </a:prstGeom>
        </p:spPr>
      </p:pic>
      <p:sp>
        <p:nvSpPr>
          <p:cNvPr id="11" name="TextBox 10">
            <a:extLst>
              <a:ext uri="{FF2B5EF4-FFF2-40B4-BE49-F238E27FC236}">
                <a16:creationId xmlns:a16="http://schemas.microsoft.com/office/drawing/2014/main" id="{AB0937F0-2FEA-A28D-80A2-7824EBFC042F}"/>
              </a:ext>
            </a:extLst>
          </p:cNvPr>
          <p:cNvSpPr txBox="1"/>
          <p:nvPr/>
        </p:nvSpPr>
        <p:spPr>
          <a:xfrm>
            <a:off x="622571" y="4688478"/>
            <a:ext cx="11177080" cy="1323439"/>
          </a:xfrm>
          <a:prstGeom prst="rect">
            <a:avLst/>
          </a:prstGeom>
          <a:noFill/>
        </p:spPr>
        <p:txBody>
          <a:bodyPr wrap="square" rtlCol="0">
            <a:spAutoFit/>
          </a:bodyPr>
          <a:lstStyle/>
          <a:p>
            <a:r>
              <a:rPr lang="en-US" sz="2000" dirty="0"/>
              <a:t>The graph shows that GNI increased in all development groups over time; however, a significant gap remains between them. </a:t>
            </a:r>
            <a:r>
              <a:rPr lang="en-US" sz="2000" b="1" dirty="0"/>
              <a:t>Developed countries </a:t>
            </a:r>
            <a:r>
              <a:rPr lang="en-US" sz="2000" dirty="0"/>
              <a:t>experienced the strongest growth, reaching approximately </a:t>
            </a:r>
            <a:r>
              <a:rPr lang="en-US" sz="2000" dirty="0">
                <a:solidFill>
                  <a:srgbClr val="501BE5"/>
                </a:solidFill>
              </a:rPr>
              <a:t>$11,000 </a:t>
            </a:r>
            <a:r>
              <a:rPr lang="en-US" sz="2000" dirty="0"/>
              <a:t>by </a:t>
            </a:r>
            <a:r>
              <a:rPr lang="en-US" sz="2000" dirty="0">
                <a:solidFill>
                  <a:srgbClr val="501BE5"/>
                </a:solidFill>
              </a:rPr>
              <a:t>1960</a:t>
            </a:r>
            <a:r>
              <a:rPr lang="en-US" sz="2000" dirty="0"/>
              <a:t>. In contrast, </a:t>
            </a:r>
            <a:r>
              <a:rPr lang="en-US" sz="2000" b="1" dirty="0"/>
              <a:t>developing</a:t>
            </a:r>
            <a:r>
              <a:rPr lang="en-US" sz="2000" dirty="0"/>
              <a:t> and </a:t>
            </a:r>
            <a:r>
              <a:rPr lang="en-US" sz="2000" b="1" dirty="0"/>
              <a:t>least developed </a:t>
            </a:r>
            <a:r>
              <a:rPr lang="en-US" sz="2000" dirty="0"/>
              <a:t>countries remained far behind, with both groups staying </a:t>
            </a:r>
            <a:r>
              <a:rPr lang="en-US" dirty="0">
                <a:solidFill>
                  <a:srgbClr val="501BE5"/>
                </a:solidFill>
              </a:rPr>
              <a:t>below</a:t>
            </a:r>
            <a:r>
              <a:rPr lang="en-US" sz="2000" dirty="0"/>
              <a:t> </a:t>
            </a:r>
            <a:r>
              <a:rPr lang="en-US" sz="2000" dirty="0">
                <a:solidFill>
                  <a:srgbClr val="501BE5"/>
                </a:solidFill>
              </a:rPr>
              <a:t>$2,000 </a:t>
            </a:r>
            <a:r>
              <a:rPr lang="en-US" sz="2000" dirty="0"/>
              <a:t>throughout the period.</a:t>
            </a:r>
          </a:p>
        </p:txBody>
      </p:sp>
    </p:spTree>
    <p:extLst>
      <p:ext uri="{BB962C8B-B14F-4D97-AF65-F5344CB8AC3E}">
        <p14:creationId xmlns:p14="http://schemas.microsoft.com/office/powerpoint/2010/main" val="2621686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0A9FA65-8168-534E-DDB5-26A29C4580AE}"/>
              </a:ext>
            </a:extLst>
          </p:cNvPr>
          <p:cNvSpPr txBox="1"/>
          <p:nvPr/>
        </p:nvSpPr>
        <p:spPr>
          <a:xfrm>
            <a:off x="87550" y="243191"/>
            <a:ext cx="5097293" cy="2246769"/>
          </a:xfrm>
          <a:prstGeom prst="rect">
            <a:avLst/>
          </a:prstGeom>
          <a:noFill/>
        </p:spPr>
        <p:txBody>
          <a:bodyPr wrap="square" rtlCol="0">
            <a:spAutoFit/>
          </a:bodyPr>
          <a:lstStyle/>
          <a:p>
            <a:pPr marL="342900" indent="-342900">
              <a:buFont typeface="Arial" panose="020B0604020202020204" pitchFamily="34" charset="0"/>
              <a:buChar char="•"/>
            </a:pPr>
            <a:r>
              <a:rPr lang="en-US" sz="2000" b="1" dirty="0"/>
              <a:t>Developed countries </a:t>
            </a:r>
            <a:r>
              <a:rPr lang="en-US" sz="2000" dirty="0"/>
              <a:t>experienced the strongest growth, rising from below </a:t>
            </a:r>
            <a:r>
              <a:rPr lang="en-US" sz="2000" dirty="0">
                <a:solidFill>
                  <a:srgbClr val="501BE5"/>
                </a:solidFill>
              </a:rPr>
              <a:t>$5,000 </a:t>
            </a:r>
            <a:r>
              <a:rPr lang="en-US" sz="2000" dirty="0"/>
              <a:t>to about </a:t>
            </a:r>
            <a:r>
              <a:rPr lang="en-US" sz="2000" dirty="0">
                <a:solidFill>
                  <a:srgbClr val="501BE5"/>
                </a:solidFill>
              </a:rPr>
              <a:t>$11,000 </a:t>
            </a:r>
            <a:r>
              <a:rPr lang="en-US" sz="2000" dirty="0"/>
              <a:t>by </a:t>
            </a:r>
            <a:r>
              <a:rPr lang="en-US" sz="2000" dirty="0">
                <a:solidFill>
                  <a:srgbClr val="501BE5"/>
                </a:solidFill>
              </a:rPr>
              <a:t>1960</a:t>
            </a:r>
            <a:r>
              <a:rPr lang="en-US" sz="2000" dirty="0"/>
              <a:t>. </a:t>
            </a:r>
          </a:p>
          <a:p>
            <a:pPr marL="342900" indent="-342900">
              <a:buFont typeface="Arial" panose="020B0604020202020204" pitchFamily="34" charset="0"/>
              <a:buChar char="•"/>
            </a:pPr>
            <a:r>
              <a:rPr lang="en-US" sz="2000" b="1" dirty="0"/>
              <a:t>Developing countries</a:t>
            </a:r>
            <a:r>
              <a:rPr lang="en-US" sz="2000" dirty="0"/>
              <a:t> increased gradually from less than </a:t>
            </a:r>
            <a:r>
              <a:rPr lang="en-US" sz="2000" dirty="0">
                <a:solidFill>
                  <a:srgbClr val="501BE5"/>
                </a:solidFill>
              </a:rPr>
              <a:t>$900 </a:t>
            </a:r>
            <a:r>
              <a:rPr lang="en-US" sz="2000" dirty="0"/>
              <a:t> to </a:t>
            </a:r>
            <a:r>
              <a:rPr lang="en-US" sz="2000" dirty="0">
                <a:solidFill>
                  <a:srgbClr val="501BE5"/>
                </a:solidFill>
              </a:rPr>
              <a:t>$1,600.</a:t>
            </a:r>
          </a:p>
          <a:p>
            <a:pPr marL="342900" indent="-342900">
              <a:buFont typeface="Arial" panose="020B0604020202020204" pitchFamily="34" charset="0"/>
              <a:buChar char="•"/>
            </a:pPr>
            <a:r>
              <a:rPr lang="en-US" sz="2000" b="1" dirty="0"/>
              <a:t>least developed countries </a:t>
            </a:r>
            <a:r>
              <a:rPr lang="en-US" sz="2000" dirty="0"/>
              <a:t>grew more slowly from </a:t>
            </a:r>
            <a:r>
              <a:rPr lang="en-US" sz="2000" dirty="0">
                <a:solidFill>
                  <a:srgbClr val="501BE5"/>
                </a:solidFill>
              </a:rPr>
              <a:t>below $450 </a:t>
            </a:r>
            <a:r>
              <a:rPr lang="en-US" sz="2000" dirty="0"/>
              <a:t>to about</a:t>
            </a:r>
            <a:r>
              <a:rPr lang="en-US" sz="2000" dirty="0">
                <a:solidFill>
                  <a:srgbClr val="501BE5"/>
                </a:solidFill>
              </a:rPr>
              <a:t> $700</a:t>
            </a:r>
            <a:r>
              <a:rPr lang="en-US" sz="2000" dirty="0"/>
              <a:t>.</a:t>
            </a:r>
          </a:p>
        </p:txBody>
      </p:sp>
      <p:pic>
        <p:nvPicPr>
          <p:cNvPr id="20" name="Picture 19">
            <a:extLst>
              <a:ext uri="{FF2B5EF4-FFF2-40B4-BE49-F238E27FC236}">
                <a16:creationId xmlns:a16="http://schemas.microsoft.com/office/drawing/2014/main" id="{F6DD7C8C-D0A3-3AEF-FF97-12445D0708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0579" y="0"/>
            <a:ext cx="6852237" cy="6858000"/>
          </a:xfrm>
          <a:prstGeom prst="rect">
            <a:avLst/>
          </a:prstGeom>
        </p:spPr>
      </p:pic>
      <p:sp>
        <p:nvSpPr>
          <p:cNvPr id="22" name="TextBox 21">
            <a:extLst>
              <a:ext uri="{FF2B5EF4-FFF2-40B4-BE49-F238E27FC236}">
                <a16:creationId xmlns:a16="http://schemas.microsoft.com/office/drawing/2014/main" id="{BD5DCBE2-6ACF-8B1D-637A-34F8B95D0DB8}"/>
              </a:ext>
            </a:extLst>
          </p:cNvPr>
          <p:cNvSpPr txBox="1"/>
          <p:nvPr/>
        </p:nvSpPr>
        <p:spPr>
          <a:xfrm>
            <a:off x="87550" y="3670519"/>
            <a:ext cx="5097293" cy="2554545"/>
          </a:xfrm>
          <a:prstGeom prst="rect">
            <a:avLst/>
          </a:prstGeom>
          <a:noFill/>
        </p:spPr>
        <p:txBody>
          <a:bodyPr wrap="square" rtlCol="0">
            <a:spAutoFit/>
          </a:bodyPr>
          <a:lstStyle/>
          <a:p>
            <a:pPr marL="342900" indent="-342900">
              <a:buFont typeface="Arial" panose="020B0604020202020204" pitchFamily="34" charset="0"/>
              <a:buChar char="•"/>
            </a:pPr>
            <a:r>
              <a:rPr lang="en-US" sz="2000" b="1" dirty="0"/>
              <a:t>developed and developing countries </a:t>
            </a:r>
            <a:r>
              <a:rPr lang="en-US" sz="2000" dirty="0"/>
              <a:t>experienced slower GNI growth between </a:t>
            </a:r>
            <a:r>
              <a:rPr lang="en-US" sz="2000" dirty="0">
                <a:solidFill>
                  <a:srgbClr val="501BE5"/>
                </a:solidFill>
              </a:rPr>
              <a:t>1937–1945</a:t>
            </a:r>
            <a:r>
              <a:rPr lang="en-US" sz="2000" dirty="0"/>
              <a:t> due to World War II. </a:t>
            </a:r>
          </a:p>
          <a:p>
            <a:pPr marL="342900" indent="-342900">
              <a:buFont typeface="Arial" panose="020B0604020202020204" pitchFamily="34" charset="0"/>
              <a:buChar char="•"/>
            </a:pPr>
            <a:r>
              <a:rPr lang="en-US" sz="2000" dirty="0"/>
              <a:t>After</a:t>
            </a:r>
            <a:r>
              <a:rPr lang="en-US" sz="2000" dirty="0">
                <a:solidFill>
                  <a:srgbClr val="501BE5"/>
                </a:solidFill>
              </a:rPr>
              <a:t> 1945</a:t>
            </a:r>
            <a:r>
              <a:rPr lang="en-US" sz="2000" dirty="0"/>
              <a:t>, growth accelerated rapidly, especially in </a:t>
            </a:r>
            <a:r>
              <a:rPr lang="en-US" sz="2000" b="1" dirty="0"/>
              <a:t>developed countries</a:t>
            </a:r>
            <a:r>
              <a:rPr lang="en-US" sz="2000" dirty="0"/>
              <a:t>. </a:t>
            </a:r>
          </a:p>
          <a:p>
            <a:pPr marL="342900" indent="-342900">
              <a:buFont typeface="Arial" panose="020B0604020202020204" pitchFamily="34" charset="0"/>
              <a:buChar char="•"/>
            </a:pPr>
            <a:r>
              <a:rPr lang="en-US" sz="2000" b="1" dirty="0"/>
              <a:t>Least developed countries</a:t>
            </a:r>
            <a:r>
              <a:rPr lang="en-US" sz="2000" dirty="0"/>
              <a:t> were less affected, showing slower but more stable growth throughout the period.</a:t>
            </a:r>
          </a:p>
        </p:txBody>
      </p:sp>
    </p:spTree>
    <p:extLst>
      <p:ext uri="{BB962C8B-B14F-4D97-AF65-F5344CB8AC3E}">
        <p14:creationId xmlns:p14="http://schemas.microsoft.com/office/powerpoint/2010/main" val="1908528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8930EBA3-4D2E-42E8-B828-834555328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 name="Graphic 60" descr="Person with Cane">
            <a:extLst>
              <a:ext uri="{FF2B5EF4-FFF2-40B4-BE49-F238E27FC236}">
                <a16:creationId xmlns:a16="http://schemas.microsoft.com/office/drawing/2014/main" id="{15490278-D6C1-D180-CBDA-B272F97FB9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503808"/>
            <a:ext cx="5850384" cy="5850384"/>
          </a:xfrm>
          <a:custGeom>
            <a:avLst/>
            <a:gdLst/>
            <a:ahLst/>
            <a:cxnLst/>
            <a:rect l="l" t="t" r="r" b="b"/>
            <a:pathLst>
              <a:path w="6094252" h="6857998">
                <a:moveTo>
                  <a:pt x="0" y="0"/>
                </a:moveTo>
                <a:lnTo>
                  <a:pt x="5898122" y="0"/>
                </a:lnTo>
                <a:cubicBezTo>
                  <a:pt x="6006442" y="0"/>
                  <a:pt x="6094252" y="87810"/>
                  <a:pt x="6094252" y="196130"/>
                </a:cubicBezTo>
                <a:lnTo>
                  <a:pt x="6094252" y="6661869"/>
                </a:lnTo>
                <a:cubicBezTo>
                  <a:pt x="6094252" y="6756649"/>
                  <a:pt x="6027023" y="6835726"/>
                  <a:pt x="5937649" y="6854015"/>
                </a:cubicBezTo>
                <a:lnTo>
                  <a:pt x="5898132" y="6857998"/>
                </a:lnTo>
                <a:lnTo>
                  <a:pt x="0" y="6857998"/>
                </a:lnTo>
                <a:close/>
              </a:path>
            </a:pathLst>
          </a:custGeom>
        </p:spPr>
      </p:pic>
      <p:sp>
        <p:nvSpPr>
          <p:cNvPr id="68" name="Arc 67">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D3C70AD-37D2-B310-BF75-29DA966FAD1A}"/>
              </a:ext>
            </a:extLst>
          </p:cNvPr>
          <p:cNvSpPr>
            <a:spLocks noGrp="1"/>
          </p:cNvSpPr>
          <p:nvPr>
            <p:ph type="ctrTitle"/>
          </p:nvPr>
        </p:nvSpPr>
        <p:spPr>
          <a:xfrm>
            <a:off x="6417732" y="957715"/>
            <a:ext cx="5130798" cy="2750419"/>
          </a:xfrm>
        </p:spPr>
        <p:txBody>
          <a:bodyPr>
            <a:normAutofit/>
          </a:bodyPr>
          <a:lstStyle/>
          <a:p>
            <a:r>
              <a:rPr lang="en-US" b="1" dirty="0"/>
              <a:t>Life Expectancy </a:t>
            </a:r>
          </a:p>
        </p:txBody>
      </p:sp>
      <p:sp>
        <p:nvSpPr>
          <p:cNvPr id="70" name="Oval 69">
            <a:extLst>
              <a:ext uri="{FF2B5EF4-FFF2-40B4-BE49-F238E27FC236}">
                <a16:creationId xmlns:a16="http://schemas.microsoft.com/office/drawing/2014/main" id="{528AA953-F4F9-4DC5-97C7-491F4AF93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079" y="5607717"/>
            <a:ext cx="513442" cy="499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426724FE-2397-BFBA-5192-20B2414CF9C6}"/>
              </a:ext>
            </a:extLst>
          </p:cNvPr>
          <p:cNvSpPr>
            <a:spLocks noGrp="1"/>
          </p:cNvSpPr>
          <p:nvPr>
            <p:ph type="subTitle" idx="1"/>
          </p:nvPr>
        </p:nvSpPr>
        <p:spPr>
          <a:xfrm>
            <a:off x="6417732" y="3800209"/>
            <a:ext cx="5130798" cy="2307022"/>
          </a:xfrm>
        </p:spPr>
        <p:txBody>
          <a:bodyPr>
            <a:normAutofit/>
          </a:bodyPr>
          <a:lstStyle/>
          <a:p>
            <a:r>
              <a:rPr lang="en-US" dirty="0"/>
              <a:t>(Worldwide Study)</a:t>
            </a:r>
          </a:p>
        </p:txBody>
      </p:sp>
    </p:spTree>
    <p:extLst>
      <p:ext uri="{BB962C8B-B14F-4D97-AF65-F5344CB8AC3E}">
        <p14:creationId xmlns:p14="http://schemas.microsoft.com/office/powerpoint/2010/main" val="243685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3EBF9E-0C97-452A-A62D-E4A28C665CFD}"/>
              </a:ext>
            </a:extLst>
          </p:cNvPr>
          <p:cNvPicPr>
            <a:picLocks noChangeAspect="1"/>
          </p:cNvPicPr>
          <p:nvPr/>
        </p:nvPicPr>
        <p:blipFill>
          <a:blip r:embed="rId2"/>
          <a:stretch>
            <a:fillRect/>
          </a:stretch>
        </p:blipFill>
        <p:spPr>
          <a:xfrm>
            <a:off x="4795736" y="9728"/>
            <a:ext cx="7061867" cy="6834145"/>
          </a:xfrm>
          <a:prstGeom prst="rect">
            <a:avLst/>
          </a:prstGeom>
        </p:spPr>
      </p:pic>
      <p:sp>
        <p:nvSpPr>
          <p:cNvPr id="6" name="TextBox 5">
            <a:extLst>
              <a:ext uri="{FF2B5EF4-FFF2-40B4-BE49-F238E27FC236}">
                <a16:creationId xmlns:a16="http://schemas.microsoft.com/office/drawing/2014/main" id="{843214AB-E992-8C73-0735-0C8D3B7C15EA}"/>
              </a:ext>
            </a:extLst>
          </p:cNvPr>
          <p:cNvSpPr txBox="1"/>
          <p:nvPr/>
        </p:nvSpPr>
        <p:spPr>
          <a:xfrm>
            <a:off x="155644" y="1692612"/>
            <a:ext cx="4640092" cy="2246769"/>
          </a:xfrm>
          <a:prstGeom prst="rect">
            <a:avLst/>
          </a:prstGeom>
          <a:noFill/>
        </p:spPr>
        <p:txBody>
          <a:bodyPr wrap="square" rtlCol="0">
            <a:spAutoFit/>
          </a:bodyPr>
          <a:lstStyle/>
          <a:p>
            <a:r>
              <a:rPr lang="en-US" sz="2000" dirty="0"/>
              <a:t>. The average life expectancy varied significantly between these groups. In </a:t>
            </a:r>
            <a:r>
              <a:rPr lang="en-US" sz="2000" dirty="0">
                <a:solidFill>
                  <a:srgbClr val="501BE5"/>
                </a:solidFill>
              </a:rPr>
              <a:t>1925</a:t>
            </a:r>
            <a:r>
              <a:rPr lang="en-US" sz="2000" dirty="0"/>
              <a:t>, life expectancy was approximately in the </a:t>
            </a:r>
            <a:r>
              <a:rPr lang="en-US" sz="2000" dirty="0">
                <a:solidFill>
                  <a:srgbClr val="501BE5"/>
                </a:solidFill>
              </a:rPr>
              <a:t>mid-30s </a:t>
            </a:r>
            <a:r>
              <a:rPr lang="en-US" sz="2000" dirty="0"/>
              <a:t>for </a:t>
            </a:r>
            <a:r>
              <a:rPr lang="en-US" sz="2000" b="1" dirty="0"/>
              <a:t>developing </a:t>
            </a:r>
            <a:r>
              <a:rPr lang="en-US" sz="2000" dirty="0"/>
              <a:t>and </a:t>
            </a:r>
            <a:r>
              <a:rPr lang="en-US" sz="2000" b="1" dirty="0"/>
              <a:t>least developed countries</a:t>
            </a:r>
            <a:r>
              <a:rPr lang="en-US" sz="2000" dirty="0"/>
              <a:t>, while </a:t>
            </a:r>
            <a:r>
              <a:rPr lang="en-US" sz="2000" b="1" dirty="0"/>
              <a:t>developed countries </a:t>
            </a:r>
            <a:r>
              <a:rPr lang="en-US" sz="2000" dirty="0"/>
              <a:t>had a much higher average life expectancy, reaching the early </a:t>
            </a:r>
            <a:r>
              <a:rPr lang="en-US" sz="2000" dirty="0">
                <a:solidFill>
                  <a:srgbClr val="501BE5"/>
                </a:solidFill>
              </a:rPr>
              <a:t>50s</a:t>
            </a:r>
            <a:r>
              <a:rPr lang="en-US" sz="2000" dirty="0"/>
              <a:t>.</a:t>
            </a:r>
          </a:p>
        </p:txBody>
      </p:sp>
    </p:spTree>
    <p:extLst>
      <p:ext uri="{BB962C8B-B14F-4D97-AF65-F5344CB8AC3E}">
        <p14:creationId xmlns:p14="http://schemas.microsoft.com/office/powerpoint/2010/main" val="4026348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D4C58-9355-AAAF-0806-2697486C9F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FDCCA49-DF0A-C9DD-12B9-3847966B8CE8}"/>
              </a:ext>
            </a:extLst>
          </p:cNvPr>
          <p:cNvPicPr>
            <a:picLocks noChangeAspect="1"/>
          </p:cNvPicPr>
          <p:nvPr/>
        </p:nvPicPr>
        <p:blipFill>
          <a:blip r:embed="rId2"/>
          <a:stretch>
            <a:fillRect/>
          </a:stretch>
        </p:blipFill>
        <p:spPr>
          <a:xfrm>
            <a:off x="5145933" y="9728"/>
            <a:ext cx="6711670" cy="6834145"/>
          </a:xfrm>
          <a:prstGeom prst="rect">
            <a:avLst/>
          </a:prstGeom>
        </p:spPr>
      </p:pic>
      <p:sp>
        <p:nvSpPr>
          <p:cNvPr id="6" name="TextBox 5">
            <a:extLst>
              <a:ext uri="{FF2B5EF4-FFF2-40B4-BE49-F238E27FC236}">
                <a16:creationId xmlns:a16="http://schemas.microsoft.com/office/drawing/2014/main" id="{4F14B85A-1C09-086F-C9D2-3C65967ACEAF}"/>
              </a:ext>
            </a:extLst>
          </p:cNvPr>
          <p:cNvSpPr txBox="1"/>
          <p:nvPr/>
        </p:nvSpPr>
        <p:spPr>
          <a:xfrm>
            <a:off x="136187" y="943574"/>
            <a:ext cx="4854102"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Life expectancy increased in </a:t>
            </a:r>
            <a:r>
              <a:rPr lang="en-US" sz="2000" b="1" dirty="0"/>
              <a:t>all development groups</a:t>
            </a:r>
            <a:r>
              <a:rPr lang="en-US" sz="2000" dirty="0"/>
              <a:t> from </a:t>
            </a:r>
            <a:r>
              <a:rPr lang="en-US" sz="2000" dirty="0">
                <a:solidFill>
                  <a:srgbClr val="501BE5"/>
                </a:solidFill>
              </a:rPr>
              <a:t>1925–1960</a:t>
            </a:r>
            <a:r>
              <a:rPr lang="en-US" sz="2000" dirty="0"/>
              <a:t>, with different patterns. </a:t>
            </a:r>
          </a:p>
          <a:p>
            <a:pPr marL="342900" indent="-342900">
              <a:buFont typeface="Arial" panose="020B0604020202020204" pitchFamily="34" charset="0"/>
              <a:buChar char="•"/>
            </a:pPr>
            <a:r>
              <a:rPr lang="en-US" sz="2000" dirty="0"/>
              <a:t>In </a:t>
            </a:r>
            <a:r>
              <a:rPr lang="en-US" sz="2000" b="1" dirty="0"/>
              <a:t>developed countries</a:t>
            </a:r>
            <a:r>
              <a:rPr lang="en-US" sz="2000" dirty="0"/>
              <a:t>, it rose steadily until </a:t>
            </a:r>
            <a:r>
              <a:rPr lang="en-US" sz="2000" dirty="0">
                <a:solidFill>
                  <a:srgbClr val="501BE5"/>
                </a:solidFill>
              </a:rPr>
              <a:t>1940</a:t>
            </a:r>
            <a:r>
              <a:rPr lang="en-US" sz="2000" dirty="0"/>
              <a:t>, fluctuated during World War II, and then increased rapidly after </a:t>
            </a:r>
            <a:r>
              <a:rPr lang="en-US" sz="2000" dirty="0">
                <a:solidFill>
                  <a:srgbClr val="501BE5"/>
                </a:solidFill>
              </a:rPr>
              <a:t>1945</a:t>
            </a:r>
            <a:r>
              <a:rPr lang="en-US" sz="2000" dirty="0"/>
              <a:t>, reaching </a:t>
            </a:r>
            <a:r>
              <a:rPr lang="en-US" sz="2000" dirty="0">
                <a:solidFill>
                  <a:srgbClr val="501BE5"/>
                </a:solidFill>
              </a:rPr>
              <a:t>over 67 years </a:t>
            </a:r>
            <a:r>
              <a:rPr lang="en-US" sz="2000" dirty="0"/>
              <a:t>by </a:t>
            </a:r>
            <a:r>
              <a:rPr lang="en-US" sz="2000" dirty="0">
                <a:solidFill>
                  <a:srgbClr val="501BE5"/>
                </a:solidFill>
              </a:rPr>
              <a:t>1960</a:t>
            </a:r>
            <a:r>
              <a:rPr lang="en-US" sz="2000" dirty="0"/>
              <a:t>.</a:t>
            </a:r>
          </a:p>
          <a:p>
            <a:pPr marL="342900" indent="-342900">
              <a:buFont typeface="Arial" panose="020B0604020202020204" pitchFamily="34" charset="0"/>
              <a:buChar char="•"/>
            </a:pPr>
            <a:r>
              <a:rPr lang="en-US" sz="2000" b="1" dirty="0"/>
              <a:t>Developing countries </a:t>
            </a:r>
            <a:r>
              <a:rPr lang="en-US" sz="2000" dirty="0"/>
              <a:t>showed gradual growth up to the </a:t>
            </a:r>
            <a:r>
              <a:rPr lang="en-US" sz="2000" dirty="0">
                <a:solidFill>
                  <a:srgbClr val="501BE5"/>
                </a:solidFill>
              </a:rPr>
              <a:t>early 40s</a:t>
            </a:r>
            <a:r>
              <a:rPr lang="en-US" sz="2000" dirty="0"/>
              <a:t>, a slight decline during the war, and a steady post-war recovery to </a:t>
            </a:r>
            <a:r>
              <a:rPr lang="en-US" sz="2000" dirty="0">
                <a:solidFill>
                  <a:srgbClr val="501BE5"/>
                </a:solidFill>
              </a:rPr>
              <a:t>over 55</a:t>
            </a:r>
            <a:r>
              <a:rPr lang="en-US" sz="2000" dirty="0"/>
              <a:t> years.</a:t>
            </a:r>
          </a:p>
          <a:p>
            <a:pPr marL="342900" indent="-342900">
              <a:buFont typeface="Arial" panose="020B0604020202020204" pitchFamily="34" charset="0"/>
              <a:buChar char="•"/>
            </a:pPr>
            <a:r>
              <a:rPr lang="en-US" sz="2000" b="1" dirty="0"/>
              <a:t>Least developed countries </a:t>
            </a:r>
            <a:r>
              <a:rPr lang="en-US" sz="2000" dirty="0"/>
              <a:t>had slower overall improvement, with minor </a:t>
            </a:r>
            <a:r>
              <a:rPr lang="en-US" sz="2000" dirty="0">
                <a:solidFill>
                  <a:srgbClr val="501BE5"/>
                </a:solidFill>
              </a:rPr>
              <a:t>gains before 1945</a:t>
            </a:r>
            <a:r>
              <a:rPr lang="en-US" sz="2000" dirty="0"/>
              <a:t>, a small wartime drop, and a gradual rise after the war to </a:t>
            </a:r>
            <a:r>
              <a:rPr lang="en-US" sz="2000" dirty="0">
                <a:solidFill>
                  <a:srgbClr val="501BE5"/>
                </a:solidFill>
              </a:rPr>
              <a:t>above 44 years</a:t>
            </a:r>
            <a:r>
              <a:rPr lang="en-US" sz="2000" dirty="0"/>
              <a:t>.</a:t>
            </a:r>
          </a:p>
        </p:txBody>
      </p:sp>
    </p:spTree>
    <p:extLst>
      <p:ext uri="{BB962C8B-B14F-4D97-AF65-F5344CB8AC3E}">
        <p14:creationId xmlns:p14="http://schemas.microsoft.com/office/powerpoint/2010/main" val="1775476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890ADB8-8822-0D8D-0E50-31F3E240E402}"/>
              </a:ext>
            </a:extLst>
          </p:cNvPr>
          <p:cNvSpPr txBox="1">
            <a:spLocks/>
          </p:cNvSpPr>
          <p:nvPr/>
        </p:nvSpPr>
        <p:spPr>
          <a:xfrm>
            <a:off x="1113810" y="3130041"/>
            <a:ext cx="4036334" cy="23876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b="1"/>
              <a:t>CO2 emissions </a:t>
            </a:r>
          </a:p>
        </p:txBody>
      </p:sp>
      <p:sp>
        <p:nvSpPr>
          <p:cNvPr id="7" name="Subtitle 2">
            <a:extLst>
              <a:ext uri="{FF2B5EF4-FFF2-40B4-BE49-F238E27FC236}">
                <a16:creationId xmlns:a16="http://schemas.microsoft.com/office/drawing/2014/main" id="{DE93B996-8697-587C-83BD-02B38911925C}"/>
              </a:ext>
            </a:extLst>
          </p:cNvPr>
          <p:cNvSpPr txBox="1">
            <a:spLocks/>
          </p:cNvSpPr>
          <p:nvPr/>
        </p:nvSpPr>
        <p:spPr>
          <a:xfrm>
            <a:off x="1113809" y="1122362"/>
            <a:ext cx="4036333" cy="1709849"/>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t>(Worldwide Study)</a:t>
            </a:r>
          </a:p>
        </p:txBody>
      </p:sp>
      <p:grpSp>
        <p:nvGrpSpPr>
          <p:cNvPr id="22" name="Group 2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23" name="Rectangle 2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moke from factory">
            <a:extLst>
              <a:ext uri="{FF2B5EF4-FFF2-40B4-BE49-F238E27FC236}">
                <a16:creationId xmlns:a16="http://schemas.microsoft.com/office/drawing/2014/main" id="{1D840583-7ABD-6EC0-F7A4-9EE1A5D5BC21}"/>
              </a:ext>
            </a:extLst>
          </p:cNvPr>
          <p:cNvPicPr>
            <a:picLocks noChangeAspect="1"/>
          </p:cNvPicPr>
          <p:nvPr/>
        </p:nvPicPr>
        <p:blipFill>
          <a:blip r:embed="rId2"/>
          <a:srcRect l="16196" r="16196" b="-1"/>
          <a:stretch>
            <a:fillRect/>
          </a:stretch>
        </p:blipFill>
        <p:spPr>
          <a:xfrm>
            <a:off x="5922492" y="666728"/>
            <a:ext cx="5536001" cy="5465791"/>
          </a:xfrm>
          <a:prstGeom prst="rect">
            <a:avLst/>
          </a:prstGeom>
        </p:spPr>
      </p:pic>
    </p:spTree>
    <p:extLst>
      <p:ext uri="{BB962C8B-B14F-4D97-AF65-F5344CB8AC3E}">
        <p14:creationId xmlns:p14="http://schemas.microsoft.com/office/powerpoint/2010/main" val="47512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999DEE-BD4F-5D5C-387E-934402CBBA24}"/>
              </a:ext>
            </a:extLst>
          </p:cNvPr>
          <p:cNvSpPr txBox="1"/>
          <p:nvPr/>
        </p:nvSpPr>
        <p:spPr>
          <a:xfrm>
            <a:off x="147529" y="243192"/>
            <a:ext cx="5038942" cy="5940088"/>
          </a:xfrm>
          <a:prstGeom prst="rect">
            <a:avLst/>
          </a:prstGeom>
          <a:noFill/>
        </p:spPr>
        <p:txBody>
          <a:bodyPr wrap="square" rtlCol="0">
            <a:spAutoFit/>
          </a:bodyPr>
          <a:lstStyle/>
          <a:p>
            <a:r>
              <a:rPr lang="en-US" sz="2000" dirty="0"/>
              <a:t>CO₂ emission levels varied significantly depending on the level of development. In </a:t>
            </a:r>
            <a:r>
              <a:rPr lang="en-US" sz="2000" dirty="0">
                <a:solidFill>
                  <a:srgbClr val="501BE5"/>
                </a:solidFill>
              </a:rPr>
              <a:t>1925</a:t>
            </a:r>
            <a:r>
              <a:rPr lang="en-US" sz="2000" dirty="0"/>
              <a:t>, </a:t>
            </a:r>
            <a:r>
              <a:rPr lang="en-US" sz="2000" b="1" dirty="0"/>
              <a:t>developed countries </a:t>
            </a:r>
            <a:r>
              <a:rPr lang="en-US" sz="2000" dirty="0"/>
              <a:t>had average emissions of </a:t>
            </a:r>
            <a:r>
              <a:rPr lang="en-US" sz="2000" dirty="0">
                <a:solidFill>
                  <a:srgbClr val="501BE5"/>
                </a:solidFill>
              </a:rPr>
              <a:t>approximately 2 units</a:t>
            </a:r>
            <a:r>
              <a:rPr lang="en-US" sz="2000" dirty="0"/>
              <a:t>, compared to </a:t>
            </a:r>
            <a:r>
              <a:rPr lang="en-US" sz="2000" dirty="0">
                <a:solidFill>
                  <a:srgbClr val="501BE5"/>
                </a:solidFill>
              </a:rPr>
              <a:t>around 0.2</a:t>
            </a:r>
            <a:r>
              <a:rPr lang="en-US" sz="2000" dirty="0"/>
              <a:t> in </a:t>
            </a:r>
            <a:r>
              <a:rPr lang="en-US" sz="2000" b="1" dirty="0"/>
              <a:t>developing countries</a:t>
            </a:r>
            <a:r>
              <a:rPr lang="en-US" sz="2000" dirty="0"/>
              <a:t>, while </a:t>
            </a:r>
            <a:r>
              <a:rPr lang="en-US" sz="2000" b="1" dirty="0"/>
              <a:t>least developed countries</a:t>
            </a:r>
            <a:r>
              <a:rPr lang="en-US" sz="2000" dirty="0"/>
              <a:t> showed very low emission levels.</a:t>
            </a:r>
          </a:p>
          <a:p>
            <a:r>
              <a:rPr lang="en-US" sz="2000" b="1" u="sng" dirty="0"/>
              <a:t>After World War II, CO₂ emissions increased sharply across all groups</a:t>
            </a:r>
            <a:r>
              <a:rPr lang="en-US" sz="2000" dirty="0"/>
              <a:t>, reflecting rapid industrial expansion and economic recovery. However, </a:t>
            </a:r>
            <a:r>
              <a:rPr lang="en-US" sz="2000" b="1" dirty="0"/>
              <a:t>developed countries </a:t>
            </a:r>
            <a:r>
              <a:rPr lang="en-US" sz="2000" dirty="0"/>
              <a:t>experienced much higher emission growth than the other groups due to faster industrialization and larger-scale economic activity.</a:t>
            </a:r>
          </a:p>
          <a:p>
            <a:r>
              <a:rPr lang="en-US" sz="2000" dirty="0"/>
              <a:t>By </a:t>
            </a:r>
            <a:r>
              <a:rPr lang="en-US" sz="2000" dirty="0">
                <a:solidFill>
                  <a:srgbClr val="501BE5"/>
                </a:solidFill>
              </a:rPr>
              <a:t>1960</a:t>
            </a:r>
            <a:r>
              <a:rPr lang="en-US" sz="2000" dirty="0"/>
              <a:t>, average CO₂ emissions </a:t>
            </a:r>
            <a:r>
              <a:rPr lang="en-US" sz="2000" dirty="0">
                <a:solidFill>
                  <a:srgbClr val="501BE5"/>
                </a:solidFill>
              </a:rPr>
              <a:t>exceeded 6  units </a:t>
            </a:r>
            <a:r>
              <a:rPr lang="en-US" sz="2000" dirty="0"/>
              <a:t>in </a:t>
            </a:r>
            <a:r>
              <a:rPr lang="en-US" sz="2000" b="1" dirty="0"/>
              <a:t>developed countries </a:t>
            </a:r>
            <a:r>
              <a:rPr lang="en-US" sz="2000" dirty="0"/>
              <a:t>and reached </a:t>
            </a:r>
            <a:r>
              <a:rPr lang="en-US" sz="2000" dirty="0">
                <a:solidFill>
                  <a:srgbClr val="501BE5"/>
                </a:solidFill>
              </a:rPr>
              <a:t>around 1.4 </a:t>
            </a:r>
            <a:r>
              <a:rPr lang="en-US" sz="2000" dirty="0"/>
              <a:t>in </a:t>
            </a:r>
            <a:r>
              <a:rPr lang="en-US" sz="2000" b="1" dirty="0"/>
              <a:t>developing countries</a:t>
            </a:r>
            <a:r>
              <a:rPr lang="en-US" sz="2000" dirty="0"/>
              <a:t>, while </a:t>
            </a:r>
            <a:r>
              <a:rPr lang="en-US" sz="2000" b="1" dirty="0"/>
              <a:t>least developed countries </a:t>
            </a:r>
            <a:r>
              <a:rPr lang="en-US" sz="2000" dirty="0"/>
              <a:t>remained </a:t>
            </a:r>
            <a:r>
              <a:rPr lang="en-US" sz="2000" dirty="0">
                <a:solidFill>
                  <a:srgbClr val="501BE5"/>
                </a:solidFill>
              </a:rPr>
              <a:t>below 1 </a:t>
            </a:r>
            <a:r>
              <a:rPr lang="en-US" sz="2000" dirty="0"/>
              <a:t>throughout the period.</a:t>
            </a:r>
          </a:p>
        </p:txBody>
      </p:sp>
      <p:pic>
        <p:nvPicPr>
          <p:cNvPr id="11" name="Picture 10">
            <a:extLst>
              <a:ext uri="{FF2B5EF4-FFF2-40B4-BE49-F238E27FC236}">
                <a16:creationId xmlns:a16="http://schemas.microsoft.com/office/drawing/2014/main" id="{CA8AD10B-F904-0A29-FD71-9108A842D274}"/>
              </a:ext>
            </a:extLst>
          </p:cNvPr>
          <p:cNvPicPr>
            <a:picLocks noChangeAspect="1"/>
          </p:cNvPicPr>
          <p:nvPr/>
        </p:nvPicPr>
        <p:blipFill>
          <a:blip r:embed="rId2"/>
          <a:stretch>
            <a:fillRect/>
          </a:stretch>
        </p:blipFill>
        <p:spPr>
          <a:xfrm>
            <a:off x="5481412" y="68095"/>
            <a:ext cx="6546713" cy="6546713"/>
          </a:xfrm>
          <a:prstGeom prst="rect">
            <a:avLst/>
          </a:prstGeom>
        </p:spPr>
      </p:pic>
    </p:spTree>
    <p:extLst>
      <p:ext uri="{BB962C8B-B14F-4D97-AF65-F5344CB8AC3E}">
        <p14:creationId xmlns:p14="http://schemas.microsoft.com/office/powerpoint/2010/main" val="894655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7328-7F79-B4F2-3C5A-E7DD16685585}"/>
              </a:ext>
            </a:extLst>
          </p:cNvPr>
          <p:cNvSpPr>
            <a:spLocks noGrp="1"/>
          </p:cNvSpPr>
          <p:nvPr>
            <p:ph type="title"/>
          </p:nvPr>
        </p:nvSpPr>
        <p:spPr>
          <a:xfrm>
            <a:off x="838200" y="262647"/>
            <a:ext cx="10515600" cy="1562978"/>
          </a:xfrm>
        </p:spPr>
        <p:txBody>
          <a:bodyPr>
            <a:noAutofit/>
          </a:bodyPr>
          <a:lstStyle/>
          <a:p>
            <a:pPr algn="ctr"/>
            <a:r>
              <a:rPr lang="en-US" u="sng" dirty="0"/>
              <a:t>(Worldwide Study Summary)</a:t>
            </a:r>
            <a:endParaRPr lang="en-US" dirty="0"/>
          </a:p>
        </p:txBody>
      </p:sp>
      <p:graphicFrame>
        <p:nvGraphicFramePr>
          <p:cNvPr id="5" name="Content Placeholder 2">
            <a:extLst>
              <a:ext uri="{FF2B5EF4-FFF2-40B4-BE49-F238E27FC236}">
                <a16:creationId xmlns:a16="http://schemas.microsoft.com/office/drawing/2014/main" id="{04EADE24-AB7D-5FD2-A32D-0C927FEDD2B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3406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930EBA3-4D2E-42E8-B828-834555328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Graphic 6" descr="Earth Globe Europe-Africa">
            <a:extLst>
              <a:ext uri="{FF2B5EF4-FFF2-40B4-BE49-F238E27FC236}">
                <a16:creationId xmlns:a16="http://schemas.microsoft.com/office/drawing/2014/main" id="{2281669B-53DD-4DFC-DDCD-4B6D89D0CF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503808"/>
            <a:ext cx="5850384" cy="5850384"/>
          </a:xfrm>
          <a:custGeom>
            <a:avLst/>
            <a:gdLst/>
            <a:ahLst/>
            <a:cxnLst/>
            <a:rect l="l" t="t" r="r" b="b"/>
            <a:pathLst>
              <a:path w="6094252" h="6857998">
                <a:moveTo>
                  <a:pt x="0" y="0"/>
                </a:moveTo>
                <a:lnTo>
                  <a:pt x="5898122" y="0"/>
                </a:lnTo>
                <a:cubicBezTo>
                  <a:pt x="6006442" y="0"/>
                  <a:pt x="6094252" y="87810"/>
                  <a:pt x="6094252" y="196130"/>
                </a:cubicBezTo>
                <a:lnTo>
                  <a:pt x="6094252" y="6661869"/>
                </a:lnTo>
                <a:cubicBezTo>
                  <a:pt x="6094252" y="6756649"/>
                  <a:pt x="6027023" y="6835726"/>
                  <a:pt x="5937649" y="6854015"/>
                </a:cubicBezTo>
                <a:lnTo>
                  <a:pt x="5898132" y="6857998"/>
                </a:lnTo>
                <a:lnTo>
                  <a:pt x="0" y="6857998"/>
                </a:lnTo>
                <a:close/>
              </a:path>
            </a:pathLst>
          </a:custGeom>
        </p:spPr>
      </p:pic>
      <p:sp>
        <p:nvSpPr>
          <p:cNvPr id="19" name="Arc 18">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96A1AA-5418-9E33-B501-E926EE2887D7}"/>
              </a:ext>
            </a:extLst>
          </p:cNvPr>
          <p:cNvSpPr>
            <a:spLocks noGrp="1"/>
          </p:cNvSpPr>
          <p:nvPr>
            <p:ph type="ctrTitle"/>
          </p:nvPr>
        </p:nvSpPr>
        <p:spPr>
          <a:xfrm>
            <a:off x="6417732" y="957715"/>
            <a:ext cx="5130798" cy="2750419"/>
          </a:xfrm>
        </p:spPr>
        <p:txBody>
          <a:bodyPr>
            <a:normAutofit/>
          </a:bodyPr>
          <a:lstStyle/>
          <a:p>
            <a:r>
              <a:rPr lang="en-US" b="1" dirty="0"/>
              <a:t>Case study country I </a:t>
            </a:r>
          </a:p>
        </p:txBody>
      </p:sp>
      <p:sp>
        <p:nvSpPr>
          <p:cNvPr id="21" name="Oval 20">
            <a:extLst>
              <a:ext uri="{FF2B5EF4-FFF2-40B4-BE49-F238E27FC236}">
                <a16:creationId xmlns:a16="http://schemas.microsoft.com/office/drawing/2014/main" id="{528AA953-F4F9-4DC5-97C7-491F4AF93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079" y="5607717"/>
            <a:ext cx="513442" cy="499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305C7475-17A7-2220-A6FC-80010A259AF5}"/>
              </a:ext>
            </a:extLst>
          </p:cNvPr>
          <p:cNvSpPr>
            <a:spLocks noGrp="1"/>
          </p:cNvSpPr>
          <p:nvPr>
            <p:ph type="subTitle" idx="1"/>
          </p:nvPr>
        </p:nvSpPr>
        <p:spPr>
          <a:xfrm>
            <a:off x="6417732" y="3800209"/>
            <a:ext cx="5130798" cy="2307022"/>
          </a:xfrm>
        </p:spPr>
        <p:txBody>
          <a:bodyPr>
            <a:normAutofit/>
          </a:bodyPr>
          <a:lstStyle/>
          <a:p>
            <a:r>
              <a:rPr lang="en-US"/>
              <a:t>(Japan)</a:t>
            </a:r>
          </a:p>
        </p:txBody>
      </p:sp>
    </p:spTree>
    <p:extLst>
      <p:ext uri="{BB962C8B-B14F-4D97-AF65-F5344CB8AC3E}">
        <p14:creationId xmlns:p14="http://schemas.microsoft.com/office/powerpoint/2010/main" val="2066025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06FCE7-BA7D-A96F-562D-ABD678024C88}"/>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rPr>
              <a:t>Japan (1925–1960)</a:t>
            </a:r>
          </a:p>
        </p:txBody>
      </p:sp>
      <p:graphicFrame>
        <p:nvGraphicFramePr>
          <p:cNvPr id="7" name="Content Placeholder 2">
            <a:extLst>
              <a:ext uri="{FF2B5EF4-FFF2-40B4-BE49-F238E27FC236}">
                <a16:creationId xmlns:a16="http://schemas.microsoft.com/office/drawing/2014/main" id="{A861EDC9-45A7-4933-7D7E-39079F3A6CDB}"/>
              </a:ext>
            </a:extLst>
          </p:cNvPr>
          <p:cNvGraphicFramePr/>
          <p:nvPr>
            <p:extLst>
              <p:ext uri="{D42A27DB-BD31-4B8C-83A1-F6EECF244321}">
                <p14:modId xmlns:p14="http://schemas.microsoft.com/office/powerpoint/2010/main" val="949247958"/>
              </p:ext>
            </p:extLst>
          </p:nvPr>
        </p:nvGraphicFramePr>
        <p:xfrm>
          <a:off x="281354" y="1838848"/>
          <a:ext cx="11696281" cy="4903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1583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3708B-FF7E-6A04-F926-8220A5138CF9}"/>
              </a:ext>
            </a:extLst>
          </p:cNvPr>
          <p:cNvPicPr>
            <a:picLocks noChangeAspect="1"/>
          </p:cNvPicPr>
          <p:nvPr/>
        </p:nvPicPr>
        <p:blipFill>
          <a:blip r:embed="rId2">
            <a:extLst>
              <a:ext uri="{28A0092B-C50C-407E-A947-70E740481C1C}">
                <a14:useLocalDpi xmlns:a14="http://schemas.microsoft.com/office/drawing/2010/main" val="0"/>
              </a:ext>
            </a:extLst>
          </a:blip>
          <a:srcRect b="8544"/>
          <a:stretch>
            <a:fillRect/>
          </a:stretch>
        </p:blipFill>
        <p:spPr>
          <a:xfrm>
            <a:off x="705364" y="118704"/>
            <a:ext cx="10384171" cy="4764579"/>
          </a:xfrm>
          <a:prstGeom prst="rect">
            <a:avLst/>
          </a:prstGeom>
        </p:spPr>
      </p:pic>
      <p:sp>
        <p:nvSpPr>
          <p:cNvPr id="6" name="TextBox 5">
            <a:extLst>
              <a:ext uri="{FF2B5EF4-FFF2-40B4-BE49-F238E27FC236}">
                <a16:creationId xmlns:a16="http://schemas.microsoft.com/office/drawing/2014/main" id="{87829582-FFC8-28D3-8B06-180D669DF58C}"/>
              </a:ext>
            </a:extLst>
          </p:cNvPr>
          <p:cNvSpPr txBox="1"/>
          <p:nvPr/>
        </p:nvSpPr>
        <p:spPr>
          <a:xfrm>
            <a:off x="77822" y="4951377"/>
            <a:ext cx="11926110" cy="1754326"/>
          </a:xfrm>
          <a:prstGeom prst="rect">
            <a:avLst/>
          </a:prstGeom>
          <a:noFill/>
        </p:spPr>
        <p:txBody>
          <a:bodyPr wrap="square" rtlCol="0">
            <a:spAutoFit/>
          </a:bodyPr>
          <a:lstStyle/>
          <a:p>
            <a:r>
              <a:rPr lang="en-US" dirty="0"/>
              <a:t>In </a:t>
            </a:r>
            <a:r>
              <a:rPr lang="en-US" dirty="0">
                <a:solidFill>
                  <a:srgbClr val="501BE5"/>
                </a:solidFill>
              </a:rPr>
              <a:t>1925</a:t>
            </a:r>
            <a:r>
              <a:rPr lang="en-US" dirty="0"/>
              <a:t>, </a:t>
            </a:r>
            <a:r>
              <a:rPr lang="en-US" b="1" dirty="0"/>
              <a:t>Japan’s Gross National Income (GNI) </a:t>
            </a:r>
            <a:r>
              <a:rPr lang="en-US" dirty="0"/>
              <a:t>per capita was </a:t>
            </a:r>
            <a:r>
              <a:rPr lang="en-US" dirty="0">
                <a:solidFill>
                  <a:srgbClr val="501BE5"/>
                </a:solidFill>
              </a:rPr>
              <a:t>about $6,000. </a:t>
            </a:r>
            <a:r>
              <a:rPr lang="en-US" dirty="0"/>
              <a:t>It rose steadily through the </a:t>
            </a:r>
            <a:r>
              <a:rPr lang="en-US" dirty="0">
                <a:solidFill>
                  <a:srgbClr val="501BE5"/>
                </a:solidFill>
              </a:rPr>
              <a:t>early 1930s </a:t>
            </a:r>
            <a:r>
              <a:rPr lang="en-US" dirty="0"/>
              <a:t>and more rapidly up to </a:t>
            </a:r>
            <a:r>
              <a:rPr lang="en-US" dirty="0">
                <a:solidFill>
                  <a:srgbClr val="501BE5"/>
                </a:solidFill>
              </a:rPr>
              <a:t>1941 (over $8,000) </a:t>
            </a:r>
            <a:r>
              <a:rPr lang="en-US" dirty="0"/>
              <a:t>due to industrial growth and military expansion.</a:t>
            </a:r>
          </a:p>
          <a:p>
            <a:r>
              <a:rPr lang="en-US" dirty="0"/>
              <a:t>After Japan entered World War II, GNI growth slowed and collapsed between </a:t>
            </a:r>
            <a:r>
              <a:rPr lang="en-US" dirty="0">
                <a:solidFill>
                  <a:srgbClr val="501BE5"/>
                </a:solidFill>
              </a:rPr>
              <a:t>1945–1947</a:t>
            </a:r>
            <a:r>
              <a:rPr lang="en-US" dirty="0"/>
              <a:t>, dropping </a:t>
            </a:r>
            <a:r>
              <a:rPr lang="en-US" dirty="0">
                <a:solidFill>
                  <a:srgbClr val="501BE5"/>
                </a:solidFill>
              </a:rPr>
              <a:t>below $5,000 </a:t>
            </a:r>
            <a:r>
              <a:rPr lang="en-US" dirty="0"/>
              <a:t>because of wartime destruction, economic disruption, and the impact of the atomic bombings of Hiroshima and Nagasaki.</a:t>
            </a:r>
          </a:p>
          <a:p>
            <a:r>
              <a:rPr lang="en-US" dirty="0"/>
              <a:t>From </a:t>
            </a:r>
            <a:r>
              <a:rPr lang="en-US" dirty="0">
                <a:solidFill>
                  <a:srgbClr val="501BE5"/>
                </a:solidFill>
              </a:rPr>
              <a:t>around 1950</a:t>
            </a:r>
            <a:r>
              <a:rPr lang="en-US" dirty="0"/>
              <a:t>, Japan entered a strong recovery phase, and GNI rose rapidly, </a:t>
            </a:r>
            <a:r>
              <a:rPr lang="en-US" dirty="0">
                <a:solidFill>
                  <a:srgbClr val="501BE5"/>
                </a:solidFill>
              </a:rPr>
              <a:t>exceeding $10,000 by 1960 </a:t>
            </a:r>
            <a:r>
              <a:rPr lang="en-US" dirty="0"/>
              <a:t>due to industrial reconstruction and economic reforms.</a:t>
            </a:r>
          </a:p>
        </p:txBody>
      </p:sp>
    </p:spTree>
    <p:extLst>
      <p:ext uri="{BB962C8B-B14F-4D97-AF65-F5344CB8AC3E}">
        <p14:creationId xmlns:p14="http://schemas.microsoft.com/office/powerpoint/2010/main" val="1416561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2E544E-DC36-426C-D80C-DE40F950BD68}"/>
              </a:ext>
            </a:extLst>
          </p:cNvPr>
          <p:cNvPicPr>
            <a:picLocks noChangeAspect="1"/>
          </p:cNvPicPr>
          <p:nvPr/>
        </p:nvPicPr>
        <p:blipFill>
          <a:blip r:embed="rId2">
            <a:extLst>
              <a:ext uri="{28A0092B-C50C-407E-A947-70E740481C1C}">
                <a14:useLocalDpi xmlns:a14="http://schemas.microsoft.com/office/drawing/2010/main" val="0"/>
              </a:ext>
            </a:extLst>
          </a:blip>
          <a:srcRect r="-20" b="8677"/>
          <a:stretch>
            <a:fillRect/>
          </a:stretch>
        </p:blipFill>
        <p:spPr>
          <a:xfrm>
            <a:off x="0" y="105992"/>
            <a:ext cx="12192000" cy="4504919"/>
          </a:xfrm>
          <a:prstGeom prst="rect">
            <a:avLst/>
          </a:prstGeom>
        </p:spPr>
      </p:pic>
      <p:sp>
        <p:nvSpPr>
          <p:cNvPr id="7" name="TextBox 6">
            <a:extLst>
              <a:ext uri="{FF2B5EF4-FFF2-40B4-BE49-F238E27FC236}">
                <a16:creationId xmlns:a16="http://schemas.microsoft.com/office/drawing/2014/main" id="{8E790AEE-1328-CA15-F5DA-D89577367E50}"/>
              </a:ext>
            </a:extLst>
          </p:cNvPr>
          <p:cNvSpPr txBox="1"/>
          <p:nvPr/>
        </p:nvSpPr>
        <p:spPr>
          <a:xfrm>
            <a:off x="768485" y="4931923"/>
            <a:ext cx="10963072" cy="1754326"/>
          </a:xfrm>
          <a:prstGeom prst="rect">
            <a:avLst/>
          </a:prstGeom>
          <a:noFill/>
        </p:spPr>
        <p:txBody>
          <a:bodyPr wrap="square" rtlCol="0">
            <a:spAutoFit/>
          </a:bodyPr>
          <a:lstStyle/>
          <a:p>
            <a:r>
              <a:rPr lang="en-US" dirty="0"/>
              <a:t>In Japan, life expectancy </a:t>
            </a:r>
            <a:r>
              <a:rPr lang="en-US" dirty="0">
                <a:solidFill>
                  <a:srgbClr val="501BE5"/>
                </a:solidFill>
              </a:rPr>
              <a:t>between 1925 and 1941 </a:t>
            </a:r>
            <a:r>
              <a:rPr lang="en-US" dirty="0"/>
              <a:t>increased slowly due to continuous military conflicts in Asia and Japan’s involvement in World War II</a:t>
            </a:r>
            <a:r>
              <a:rPr lang="en-US" dirty="0">
                <a:solidFill>
                  <a:srgbClr val="501BE5"/>
                </a:solidFill>
              </a:rPr>
              <a:t>. By 1945, </a:t>
            </a:r>
            <a:r>
              <a:rPr lang="en-US" dirty="0"/>
              <a:t>the average life expectancy dropped sharply from </a:t>
            </a:r>
            <a:r>
              <a:rPr lang="en-US" dirty="0">
                <a:solidFill>
                  <a:srgbClr val="501BE5"/>
                </a:solidFill>
              </a:rPr>
              <a:t>the mid-40s to the early 30s </a:t>
            </a:r>
            <a:r>
              <a:rPr lang="en-US" dirty="0"/>
              <a:t>as a result of wartime destruction, poor living conditions, and the impact of the atomic bombings of Hiroshima and Nagasaki.</a:t>
            </a:r>
          </a:p>
          <a:p>
            <a:r>
              <a:rPr lang="en-US" dirty="0">
                <a:solidFill>
                  <a:srgbClr val="501BE5"/>
                </a:solidFill>
              </a:rPr>
              <a:t>After 1945</a:t>
            </a:r>
            <a:r>
              <a:rPr lang="en-US" dirty="0"/>
              <a:t>, life expectancy recovered rapidly alongside economic reconstruction, healthcare improvements, and industrial growth, eventually </a:t>
            </a:r>
            <a:r>
              <a:rPr lang="en-US" dirty="0">
                <a:solidFill>
                  <a:srgbClr val="501BE5"/>
                </a:solidFill>
              </a:rPr>
              <a:t>exceeding 65 </a:t>
            </a:r>
            <a:r>
              <a:rPr lang="en-US" dirty="0"/>
              <a:t>years by </a:t>
            </a:r>
            <a:r>
              <a:rPr lang="en-US" dirty="0">
                <a:solidFill>
                  <a:srgbClr val="501BE5"/>
                </a:solidFill>
              </a:rPr>
              <a:t>1960</a:t>
            </a:r>
            <a:r>
              <a:rPr lang="en-US" dirty="0"/>
              <a:t>.</a:t>
            </a:r>
          </a:p>
        </p:txBody>
      </p:sp>
    </p:spTree>
    <p:extLst>
      <p:ext uri="{BB962C8B-B14F-4D97-AF65-F5344CB8AC3E}">
        <p14:creationId xmlns:p14="http://schemas.microsoft.com/office/powerpoint/2010/main" val="1665191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06DE01B-5517-EECC-080A-2D21C465E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108380"/>
          </a:xfrm>
          <a:prstGeom prst="rect">
            <a:avLst/>
          </a:prstGeom>
        </p:spPr>
      </p:pic>
      <p:sp>
        <p:nvSpPr>
          <p:cNvPr id="12" name="TextBox 11">
            <a:extLst>
              <a:ext uri="{FF2B5EF4-FFF2-40B4-BE49-F238E27FC236}">
                <a16:creationId xmlns:a16="http://schemas.microsoft.com/office/drawing/2014/main" id="{BE19D29F-775A-BD39-23C4-15A94AD3EAED}"/>
              </a:ext>
            </a:extLst>
          </p:cNvPr>
          <p:cNvSpPr txBox="1"/>
          <p:nvPr/>
        </p:nvSpPr>
        <p:spPr>
          <a:xfrm>
            <a:off x="401934" y="5345723"/>
            <a:ext cx="11314444" cy="1215851"/>
          </a:xfrm>
          <a:prstGeom prst="rect">
            <a:avLst/>
          </a:prstGeom>
          <a:noFill/>
        </p:spPr>
        <p:txBody>
          <a:bodyPr wrap="square" rtlCol="0">
            <a:spAutoFit/>
          </a:bodyPr>
          <a:lstStyle/>
          <a:p>
            <a:r>
              <a:rPr lang="en-US" dirty="0"/>
              <a:t>“Japan’s </a:t>
            </a:r>
            <a:r>
              <a:rPr lang="en-US" u="sng" dirty="0"/>
              <a:t>CO₂ emissions declined sharply </a:t>
            </a:r>
            <a:r>
              <a:rPr lang="en-US" b="1" u="sng" dirty="0"/>
              <a:t>during the final years of WWII</a:t>
            </a:r>
            <a:r>
              <a:rPr lang="en-US" u="sng" dirty="0"/>
              <a:t> due to destruction of industrial infrastructure and economic collapse</a:t>
            </a:r>
            <a:r>
              <a:rPr lang="en-US" dirty="0"/>
              <a:t>. Following post-war reconstruction and industrial expansion in </a:t>
            </a:r>
            <a:r>
              <a:rPr lang="en-US" u="sng" dirty="0"/>
              <a:t>the </a:t>
            </a:r>
            <a:r>
              <a:rPr lang="en-US" u="sng" dirty="0">
                <a:solidFill>
                  <a:srgbClr val="501BE5"/>
                </a:solidFill>
              </a:rPr>
              <a:t>1950s</a:t>
            </a:r>
            <a:r>
              <a:rPr lang="en-US" u="sng" dirty="0"/>
              <a:t>, emissions increased rapidly, reflecting Japan’s transformation into a major industrial economy</a:t>
            </a:r>
            <a:r>
              <a:rPr lang="en-US" dirty="0"/>
              <a:t>.”</a:t>
            </a:r>
          </a:p>
          <a:p>
            <a:endParaRPr lang="en-US" dirty="0"/>
          </a:p>
        </p:txBody>
      </p:sp>
    </p:spTree>
    <p:extLst>
      <p:ext uri="{BB962C8B-B14F-4D97-AF65-F5344CB8AC3E}">
        <p14:creationId xmlns:p14="http://schemas.microsoft.com/office/powerpoint/2010/main" val="4058738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270301-8B8C-CEA7-25B9-2820031CCE21}"/>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53016B4-8ED8-9E86-B9C7-29460C0CE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Graphic 6" descr="Earth Globe Europe-Africa">
            <a:extLst>
              <a:ext uri="{FF2B5EF4-FFF2-40B4-BE49-F238E27FC236}">
                <a16:creationId xmlns:a16="http://schemas.microsoft.com/office/drawing/2014/main" id="{3B506883-9F91-01E2-97DB-088225EEF8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503808"/>
            <a:ext cx="5850384" cy="5850384"/>
          </a:xfrm>
          <a:custGeom>
            <a:avLst/>
            <a:gdLst/>
            <a:ahLst/>
            <a:cxnLst/>
            <a:rect l="l" t="t" r="r" b="b"/>
            <a:pathLst>
              <a:path w="6094252" h="6857998">
                <a:moveTo>
                  <a:pt x="0" y="0"/>
                </a:moveTo>
                <a:lnTo>
                  <a:pt x="5898122" y="0"/>
                </a:lnTo>
                <a:cubicBezTo>
                  <a:pt x="6006442" y="0"/>
                  <a:pt x="6094252" y="87810"/>
                  <a:pt x="6094252" y="196130"/>
                </a:cubicBezTo>
                <a:lnTo>
                  <a:pt x="6094252" y="6661869"/>
                </a:lnTo>
                <a:cubicBezTo>
                  <a:pt x="6094252" y="6756649"/>
                  <a:pt x="6027023" y="6835726"/>
                  <a:pt x="5937649" y="6854015"/>
                </a:cubicBezTo>
                <a:lnTo>
                  <a:pt x="5898132" y="6857998"/>
                </a:lnTo>
                <a:lnTo>
                  <a:pt x="0" y="6857998"/>
                </a:lnTo>
                <a:close/>
              </a:path>
            </a:pathLst>
          </a:custGeom>
        </p:spPr>
      </p:pic>
      <p:sp>
        <p:nvSpPr>
          <p:cNvPr id="19" name="Arc 18">
            <a:extLst>
              <a:ext uri="{FF2B5EF4-FFF2-40B4-BE49-F238E27FC236}">
                <a16:creationId xmlns:a16="http://schemas.microsoft.com/office/drawing/2014/main" id="{080BC88A-085A-E6A0-C38A-4CFC0AA95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E0164B-2835-DD0C-984B-281751A67CA6}"/>
              </a:ext>
            </a:extLst>
          </p:cNvPr>
          <p:cNvSpPr>
            <a:spLocks noGrp="1"/>
          </p:cNvSpPr>
          <p:nvPr>
            <p:ph type="ctrTitle"/>
          </p:nvPr>
        </p:nvSpPr>
        <p:spPr>
          <a:xfrm>
            <a:off x="6417732" y="957715"/>
            <a:ext cx="5130798" cy="2750419"/>
          </a:xfrm>
        </p:spPr>
        <p:txBody>
          <a:bodyPr>
            <a:normAutofit/>
          </a:bodyPr>
          <a:lstStyle/>
          <a:p>
            <a:r>
              <a:rPr lang="en-US" b="1" dirty="0"/>
              <a:t>Case study country II </a:t>
            </a:r>
          </a:p>
        </p:txBody>
      </p:sp>
      <p:sp>
        <p:nvSpPr>
          <p:cNvPr id="21" name="Oval 20">
            <a:extLst>
              <a:ext uri="{FF2B5EF4-FFF2-40B4-BE49-F238E27FC236}">
                <a16:creationId xmlns:a16="http://schemas.microsoft.com/office/drawing/2014/main" id="{ADB348BE-79CA-40AE-E2F8-3455CACBBA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079" y="5607717"/>
            <a:ext cx="513442" cy="499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54F25A1-A75C-B4F2-0847-4957039B2BDC}"/>
              </a:ext>
            </a:extLst>
          </p:cNvPr>
          <p:cNvSpPr>
            <a:spLocks noGrp="1"/>
          </p:cNvSpPr>
          <p:nvPr>
            <p:ph type="subTitle" idx="1"/>
          </p:nvPr>
        </p:nvSpPr>
        <p:spPr>
          <a:xfrm>
            <a:off x="6417732" y="3800209"/>
            <a:ext cx="5130798" cy="2307022"/>
          </a:xfrm>
        </p:spPr>
        <p:txBody>
          <a:bodyPr>
            <a:normAutofit/>
          </a:bodyPr>
          <a:lstStyle/>
          <a:p>
            <a:r>
              <a:rPr lang="en-US" dirty="0"/>
              <a:t>(Germany)</a:t>
            </a:r>
          </a:p>
        </p:txBody>
      </p:sp>
    </p:spTree>
    <p:extLst>
      <p:ext uri="{BB962C8B-B14F-4D97-AF65-F5344CB8AC3E}">
        <p14:creationId xmlns:p14="http://schemas.microsoft.com/office/powerpoint/2010/main" val="1513710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3BF2CD2-A135-59D4-75B4-787884210231}"/>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Germany(1925-1960)</a:t>
            </a:r>
          </a:p>
        </p:txBody>
      </p:sp>
      <p:graphicFrame>
        <p:nvGraphicFramePr>
          <p:cNvPr id="11" name="Content Placeholder 2">
            <a:extLst>
              <a:ext uri="{FF2B5EF4-FFF2-40B4-BE49-F238E27FC236}">
                <a16:creationId xmlns:a16="http://schemas.microsoft.com/office/drawing/2014/main" id="{087C71BA-221C-FDF2-4E1F-99E619AB8A8A}"/>
              </a:ext>
            </a:extLst>
          </p:cNvPr>
          <p:cNvGraphicFramePr/>
          <p:nvPr>
            <p:extLst>
              <p:ext uri="{D42A27DB-BD31-4B8C-83A1-F6EECF244321}">
                <p14:modId xmlns:p14="http://schemas.microsoft.com/office/powerpoint/2010/main" val="329897355"/>
              </p:ext>
            </p:extLst>
          </p:nvPr>
        </p:nvGraphicFramePr>
        <p:xfrm>
          <a:off x="476655" y="1663430"/>
          <a:ext cx="11468911" cy="4641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946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AD5F05A-5BDB-27FA-F064-6FBA0A40E167}"/>
              </a:ext>
            </a:extLst>
          </p:cNvPr>
          <p:cNvSpPr txBox="1"/>
          <p:nvPr/>
        </p:nvSpPr>
        <p:spPr>
          <a:xfrm>
            <a:off x="365111" y="5031050"/>
            <a:ext cx="11648009" cy="1661993"/>
          </a:xfrm>
          <a:prstGeom prst="rect">
            <a:avLst/>
          </a:prstGeom>
          <a:noFill/>
        </p:spPr>
        <p:txBody>
          <a:bodyPr wrap="square" rtlCol="0">
            <a:spAutoFit/>
          </a:bodyPr>
          <a:lstStyle/>
          <a:p>
            <a:pPr marL="285750" indent="-285750">
              <a:buFont typeface="Arial" panose="020B0604020202020204" pitchFamily="34" charset="0"/>
              <a:buChar char="•"/>
            </a:pPr>
            <a:r>
              <a:rPr lang="en-US" sz="1700" b="1" dirty="0"/>
              <a:t>Germany’s </a:t>
            </a:r>
            <a:r>
              <a:rPr lang="en-US" sz="1700" b="1" u="sng" dirty="0"/>
              <a:t>Gross National Income (GNI) rose significantly between 1932–1939 due to rapid militarization and industrial expansion under the Nazi regime</a:t>
            </a:r>
            <a:r>
              <a:rPr lang="en-US" sz="1700" b="1" dirty="0"/>
              <a:t>. </a:t>
            </a:r>
          </a:p>
          <a:p>
            <a:pPr marL="285750" indent="-285750">
              <a:buFont typeface="Arial" panose="020B0604020202020204" pitchFamily="34" charset="0"/>
              <a:buChar char="•"/>
            </a:pPr>
            <a:r>
              <a:rPr lang="en-US" sz="1700" b="1" dirty="0"/>
              <a:t>During World War II, growth slowed and then </a:t>
            </a:r>
            <a:r>
              <a:rPr lang="en-US" sz="1700" b="1" u="sng" dirty="0"/>
              <a:t>dropped sharply between 1944–1946 because of military defeat, infrastructure destruction, and economic collapse.</a:t>
            </a:r>
          </a:p>
          <a:p>
            <a:pPr marL="285750" indent="-285750">
              <a:buFont typeface="Arial" panose="020B0604020202020204" pitchFamily="34" charset="0"/>
              <a:buChar char="•"/>
            </a:pPr>
            <a:r>
              <a:rPr lang="en-US" sz="1700" b="1" dirty="0"/>
              <a:t> After 1945</a:t>
            </a:r>
            <a:r>
              <a:rPr lang="en-US" sz="1700" b="1" u="sng" dirty="0"/>
              <a:t>, Germany began rebuilding with international support, including the Marshall Plan, leading to the rapid economic recovery of West Germany in the 1950s, known as the “Wirtschaftswunder.”</a:t>
            </a:r>
          </a:p>
        </p:txBody>
      </p:sp>
      <p:pic>
        <p:nvPicPr>
          <p:cNvPr id="19" name="Picture 18">
            <a:extLst>
              <a:ext uri="{FF2B5EF4-FFF2-40B4-BE49-F238E27FC236}">
                <a16:creationId xmlns:a16="http://schemas.microsoft.com/office/drawing/2014/main" id="{F7F5D7A2-1F22-9A6C-3142-6BA994B20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996" y="58414"/>
            <a:ext cx="10276095" cy="4771667"/>
          </a:xfrm>
          <a:prstGeom prst="rect">
            <a:avLst/>
          </a:prstGeom>
        </p:spPr>
      </p:pic>
    </p:spTree>
    <p:extLst>
      <p:ext uri="{BB962C8B-B14F-4D97-AF65-F5344CB8AC3E}">
        <p14:creationId xmlns:p14="http://schemas.microsoft.com/office/powerpoint/2010/main" val="3486354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9DE7E8-6455-4B84-7CF0-037498CC1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0174"/>
            <a:ext cx="12192000" cy="4526923"/>
          </a:xfrm>
          <a:prstGeom prst="rect">
            <a:avLst/>
          </a:prstGeom>
        </p:spPr>
      </p:pic>
      <p:sp>
        <p:nvSpPr>
          <p:cNvPr id="10" name="TextBox 9">
            <a:extLst>
              <a:ext uri="{FF2B5EF4-FFF2-40B4-BE49-F238E27FC236}">
                <a16:creationId xmlns:a16="http://schemas.microsoft.com/office/drawing/2014/main" id="{6FAEDC2F-94F2-0F0E-F4C9-02F7C307F1B2}"/>
              </a:ext>
            </a:extLst>
          </p:cNvPr>
          <p:cNvSpPr txBox="1"/>
          <p:nvPr/>
        </p:nvSpPr>
        <p:spPr>
          <a:xfrm>
            <a:off x="836579" y="4786009"/>
            <a:ext cx="1051560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In Germany, life expectancy remained </a:t>
            </a:r>
            <a:r>
              <a:rPr lang="en-US" dirty="0">
                <a:solidFill>
                  <a:srgbClr val="501BE5"/>
                </a:solidFill>
              </a:rPr>
              <a:t>above 55 years </a:t>
            </a:r>
            <a:r>
              <a:rPr lang="en-US" dirty="0"/>
              <a:t>between </a:t>
            </a:r>
            <a:r>
              <a:rPr lang="en-US" dirty="0">
                <a:solidFill>
                  <a:srgbClr val="501BE5"/>
                </a:solidFill>
              </a:rPr>
              <a:t>1925 and 1941 </a:t>
            </a:r>
            <a:r>
              <a:rPr lang="en-US" dirty="0"/>
              <a:t>before declining sharply during the final years of World War II. By </a:t>
            </a:r>
            <a:r>
              <a:rPr lang="en-US" dirty="0">
                <a:solidFill>
                  <a:srgbClr val="501BE5"/>
                </a:solidFill>
              </a:rPr>
              <a:t>1945</a:t>
            </a:r>
            <a:r>
              <a:rPr lang="en-US" dirty="0"/>
              <a:t>, the average life expectancy had fallen to </a:t>
            </a:r>
            <a:r>
              <a:rPr lang="en-US" dirty="0">
                <a:solidFill>
                  <a:srgbClr val="501BE5"/>
                </a:solidFill>
              </a:rPr>
              <a:t>below 30 </a:t>
            </a:r>
            <a:r>
              <a:rPr lang="en-US" dirty="0"/>
              <a:t>years due to wartime destruction, food shortages, civilian casualties, and the collapse of healthcare and living conditions.</a:t>
            </a:r>
          </a:p>
          <a:p>
            <a:pPr marL="285750" indent="-285750">
              <a:buFont typeface="Arial" panose="020B0604020202020204" pitchFamily="34" charset="0"/>
              <a:buChar char="•"/>
            </a:pPr>
            <a:r>
              <a:rPr lang="en-US" dirty="0"/>
              <a:t>After the war, life expectancy recovered rapidly alongside economic reconstruction, healthcare improvements, and industrial growth, eventually reaching </a:t>
            </a:r>
            <a:r>
              <a:rPr lang="en-US" dirty="0">
                <a:solidFill>
                  <a:srgbClr val="501BE5"/>
                </a:solidFill>
              </a:rPr>
              <a:t>around 70 </a:t>
            </a:r>
            <a:r>
              <a:rPr lang="en-US" dirty="0"/>
              <a:t>years by </a:t>
            </a:r>
            <a:r>
              <a:rPr lang="en-US" dirty="0">
                <a:solidFill>
                  <a:srgbClr val="501BE5"/>
                </a:solidFill>
              </a:rPr>
              <a:t>1960</a:t>
            </a:r>
            <a:r>
              <a:rPr lang="en-US" dirty="0"/>
              <a:t>.</a:t>
            </a:r>
          </a:p>
        </p:txBody>
      </p:sp>
    </p:spTree>
    <p:extLst>
      <p:ext uri="{BB962C8B-B14F-4D97-AF65-F5344CB8AC3E}">
        <p14:creationId xmlns:p14="http://schemas.microsoft.com/office/powerpoint/2010/main" val="494096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0A24-6147-DD52-2437-FBAAF8BF93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48EC2BB-67C8-100B-A7D2-35D93E46BD75}"/>
              </a:ext>
            </a:extLst>
          </p:cNvPr>
          <p:cNvSpPr txBox="1"/>
          <p:nvPr/>
        </p:nvSpPr>
        <p:spPr>
          <a:xfrm>
            <a:off x="552658" y="4692581"/>
            <a:ext cx="11224009" cy="1754326"/>
          </a:xfrm>
          <a:prstGeom prst="rect">
            <a:avLst/>
          </a:prstGeom>
          <a:noFill/>
        </p:spPr>
        <p:txBody>
          <a:bodyPr wrap="square" rtlCol="0">
            <a:spAutoFit/>
          </a:bodyPr>
          <a:lstStyle/>
          <a:p>
            <a:r>
              <a:rPr lang="en-US" dirty="0"/>
              <a:t>CO₂ emissions in Germany were relatively high starting from </a:t>
            </a:r>
            <a:r>
              <a:rPr lang="en-US" dirty="0">
                <a:solidFill>
                  <a:srgbClr val="501BE5"/>
                </a:solidFill>
              </a:rPr>
              <a:t>1925</a:t>
            </a:r>
            <a:r>
              <a:rPr lang="en-US" dirty="0"/>
              <a:t>, although they fluctuated during the late 1920s due to the effects of the Great Depression and energy shortages. Beginning in the early </a:t>
            </a:r>
            <a:r>
              <a:rPr lang="en-US" dirty="0">
                <a:solidFill>
                  <a:srgbClr val="501BE5"/>
                </a:solidFill>
              </a:rPr>
              <a:t>1930s</a:t>
            </a:r>
            <a:r>
              <a:rPr lang="en-US" dirty="0"/>
              <a:t>, emissions increased rapidly as a result of militarization and industrial expansion under the Nazi regime, reaching more than </a:t>
            </a:r>
            <a:r>
              <a:rPr lang="en-US" dirty="0">
                <a:solidFill>
                  <a:srgbClr val="501BE5"/>
                </a:solidFill>
              </a:rPr>
              <a:t>9 units </a:t>
            </a:r>
            <a:r>
              <a:rPr lang="en-US" dirty="0"/>
              <a:t>by </a:t>
            </a:r>
            <a:r>
              <a:rPr lang="en-US" dirty="0">
                <a:solidFill>
                  <a:srgbClr val="501BE5"/>
                </a:solidFill>
              </a:rPr>
              <a:t>1943</a:t>
            </a:r>
            <a:r>
              <a:rPr lang="en-US" dirty="0"/>
              <a:t>.</a:t>
            </a:r>
          </a:p>
          <a:p>
            <a:r>
              <a:rPr lang="en-US" dirty="0"/>
              <a:t>After </a:t>
            </a:r>
            <a:r>
              <a:rPr lang="en-US" dirty="0">
                <a:solidFill>
                  <a:srgbClr val="501BE5"/>
                </a:solidFill>
              </a:rPr>
              <a:t>1943</a:t>
            </a:r>
            <a:r>
              <a:rPr lang="en-US" dirty="0"/>
              <a:t>, CO₂ emissions began to decline sharply and collapsed by </a:t>
            </a:r>
            <a:r>
              <a:rPr lang="en-US" dirty="0">
                <a:solidFill>
                  <a:srgbClr val="501BE5"/>
                </a:solidFill>
              </a:rPr>
              <a:t>1945</a:t>
            </a:r>
            <a:r>
              <a:rPr lang="en-US" dirty="0"/>
              <a:t> due to wartime destruction, industrial collapse, fuel shortages, and Germany’s defeat in World War II. Following </a:t>
            </a:r>
            <a:r>
              <a:rPr lang="en-US" dirty="0">
                <a:solidFill>
                  <a:srgbClr val="501BE5"/>
                </a:solidFill>
              </a:rPr>
              <a:t>1946</a:t>
            </a:r>
            <a:r>
              <a:rPr lang="en-US" dirty="0"/>
              <a:t>, emissions increased again as Germany entered a period of rapid industrial reconstruction and economic recovery, eventually exceeding </a:t>
            </a:r>
            <a:r>
              <a:rPr lang="en-US" dirty="0">
                <a:solidFill>
                  <a:srgbClr val="501BE5"/>
                </a:solidFill>
              </a:rPr>
              <a:t>12</a:t>
            </a:r>
            <a:r>
              <a:rPr lang="en-US" dirty="0"/>
              <a:t> units by </a:t>
            </a:r>
            <a:r>
              <a:rPr lang="en-US" dirty="0">
                <a:solidFill>
                  <a:srgbClr val="501BE5"/>
                </a:solidFill>
              </a:rPr>
              <a:t>1960</a:t>
            </a:r>
            <a:r>
              <a:rPr lang="en-US" dirty="0"/>
              <a:t>.</a:t>
            </a:r>
          </a:p>
        </p:txBody>
      </p:sp>
      <p:pic>
        <p:nvPicPr>
          <p:cNvPr id="11" name="Picture 10">
            <a:extLst>
              <a:ext uri="{FF2B5EF4-FFF2-40B4-BE49-F238E27FC236}">
                <a16:creationId xmlns:a16="http://schemas.microsoft.com/office/drawing/2014/main" id="{2DF3BC5A-343E-68ED-2CB2-01E08D0CB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876"/>
            <a:ext cx="12192000" cy="4296740"/>
          </a:xfrm>
          <a:prstGeom prst="rect">
            <a:avLst/>
          </a:prstGeom>
        </p:spPr>
      </p:pic>
    </p:spTree>
    <p:extLst>
      <p:ext uri="{BB962C8B-B14F-4D97-AF65-F5344CB8AC3E}">
        <p14:creationId xmlns:p14="http://schemas.microsoft.com/office/powerpoint/2010/main" val="2495341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563B11-03D5-80BF-E262-BF670DF63656}"/>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4800" b="1" dirty="0"/>
              <a:t>Gross National Income (GNI)</a:t>
            </a:r>
          </a:p>
        </p:txBody>
      </p:sp>
      <p:graphicFrame>
        <p:nvGraphicFramePr>
          <p:cNvPr id="4" name="Table 3">
            <a:extLst>
              <a:ext uri="{FF2B5EF4-FFF2-40B4-BE49-F238E27FC236}">
                <a16:creationId xmlns:a16="http://schemas.microsoft.com/office/drawing/2014/main" id="{438FC41F-A48E-B28A-641B-6DD0A1515C99}"/>
              </a:ext>
            </a:extLst>
          </p:cNvPr>
          <p:cNvGraphicFramePr>
            <a:graphicFrameLocks noGrp="1"/>
          </p:cNvGraphicFramePr>
          <p:nvPr>
            <p:extLst>
              <p:ext uri="{D42A27DB-BD31-4B8C-83A1-F6EECF244321}">
                <p14:modId xmlns:p14="http://schemas.microsoft.com/office/powerpoint/2010/main" val="3442882812"/>
              </p:ext>
            </p:extLst>
          </p:nvPr>
        </p:nvGraphicFramePr>
        <p:xfrm>
          <a:off x="838200" y="2241266"/>
          <a:ext cx="10512548" cy="3658624"/>
        </p:xfrm>
        <a:graphic>
          <a:graphicData uri="http://schemas.openxmlformats.org/drawingml/2006/table">
            <a:tbl>
              <a:tblPr firstRow="1" bandRow="1">
                <a:tableStyleId>{2D5ABB26-0587-4C30-8999-92F81FD0307C}</a:tableStyleId>
              </a:tblPr>
              <a:tblGrid>
                <a:gridCol w="5316768">
                  <a:extLst>
                    <a:ext uri="{9D8B030D-6E8A-4147-A177-3AD203B41FA5}">
                      <a16:colId xmlns:a16="http://schemas.microsoft.com/office/drawing/2014/main" val="4178712577"/>
                    </a:ext>
                  </a:extLst>
                </a:gridCol>
                <a:gridCol w="5195780">
                  <a:extLst>
                    <a:ext uri="{9D8B030D-6E8A-4147-A177-3AD203B41FA5}">
                      <a16:colId xmlns:a16="http://schemas.microsoft.com/office/drawing/2014/main" val="778938554"/>
                    </a:ext>
                  </a:extLst>
                </a:gridCol>
              </a:tblGrid>
              <a:tr h="558189">
                <a:tc>
                  <a:txBody>
                    <a:bodyPr/>
                    <a:lstStyle/>
                    <a:p>
                      <a:pPr algn="ctr"/>
                      <a:r>
                        <a:rPr lang="en-US" sz="2500" b="1" dirty="0"/>
                        <a:t>Japan</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900" b="1" dirty="0"/>
                        <a:t>Germany</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9516580"/>
                  </a:ext>
                </a:extLst>
              </a:tr>
              <a:tr h="3100435">
                <a:tc>
                  <a:txBody>
                    <a:bodyPr/>
                    <a:lstStyle/>
                    <a:p>
                      <a:pPr marL="285750" indent="-285750">
                        <a:buFont typeface="Arial" panose="020B0604020202020204" pitchFamily="34" charset="0"/>
                        <a:buChar char="•"/>
                      </a:pPr>
                      <a:r>
                        <a:rPr lang="en-US" dirty="0"/>
                        <a:t>strong economic growth before World War II due to rapid industrialization and military expansion.</a:t>
                      </a:r>
                    </a:p>
                    <a:p>
                      <a:pPr marL="285750" indent="-285750">
                        <a:buFont typeface="Arial" panose="020B0604020202020204" pitchFamily="34" charset="0"/>
                        <a:buChar char="•"/>
                      </a:pPr>
                      <a:r>
                        <a:rPr lang="en-US" dirty="0"/>
                        <a:t>economy became increasingly affected by prolonged military conflict in Asia</a:t>
                      </a:r>
                    </a:p>
                    <a:p>
                      <a:pPr marL="285750" indent="-285750">
                        <a:buFont typeface="Arial" panose="020B0604020202020204" pitchFamily="34" charset="0"/>
                        <a:buChar char="•"/>
                      </a:pPr>
                      <a:r>
                        <a:rPr lang="en-US" dirty="0"/>
                        <a:t>dropped significantly after the atomic bombings and post-war economic disruption.</a:t>
                      </a:r>
                    </a:p>
                    <a:p>
                      <a:pPr marL="285750" indent="-285750">
                        <a:buFont typeface="Arial" panose="020B0604020202020204" pitchFamily="34" charset="0"/>
                        <a:buChar char="•"/>
                      </a:pPr>
                      <a:r>
                        <a:rPr lang="en-US" dirty="0"/>
                        <a:t>After 1950, showed rapid economic recovery and industrial growth.</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strong economic growth before World War II due to rapid industrialization and military expansion.</a:t>
                      </a:r>
                    </a:p>
                    <a:p>
                      <a:pPr marL="285750" indent="-285750">
                        <a:buFont typeface="Arial" panose="020B0604020202020204" pitchFamily="34" charset="0"/>
                        <a:buChar char="•"/>
                      </a:pPr>
                      <a:r>
                        <a:rPr lang="en-US" dirty="0"/>
                        <a:t>maintained relatively higher and more stable GNI levels during the early war years</a:t>
                      </a:r>
                    </a:p>
                    <a:p>
                      <a:pPr marL="285750" indent="-285750">
                        <a:buFont typeface="Arial" panose="020B0604020202020204" pitchFamily="34" charset="0"/>
                        <a:buChar char="•"/>
                      </a:pPr>
                      <a:r>
                        <a:rPr lang="en-US" dirty="0"/>
                        <a:t>sharp economic collapse around 1945 as a result of wartime destruction and defeat.</a:t>
                      </a:r>
                    </a:p>
                    <a:p>
                      <a:pPr marL="285750" indent="-285750">
                        <a:buFont typeface="Arial" panose="020B0604020202020204" pitchFamily="34" charset="0"/>
                        <a:buChar char="•"/>
                      </a:pPr>
                      <a:r>
                        <a:rPr lang="en-US" dirty="0"/>
                        <a:t>After 1950, recovered strongly, reflecting successful post-war reconstruction and industrial expansion.</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5383815"/>
                  </a:ext>
                </a:extLst>
              </a:tr>
            </a:tbl>
          </a:graphicData>
        </a:graphic>
      </p:graphicFrame>
    </p:spTree>
    <p:extLst>
      <p:ext uri="{BB962C8B-B14F-4D97-AF65-F5344CB8AC3E}">
        <p14:creationId xmlns:p14="http://schemas.microsoft.com/office/powerpoint/2010/main" val="110525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6B68CB-1658-F841-5BFE-DE3D25082B0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85A60C-6D8C-CD80-354F-BAA200D848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D71569-D35B-22C1-81EB-89BCADC7C6B6}"/>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b="1" kern="1200">
                <a:solidFill>
                  <a:schemeClr val="tx1"/>
                </a:solidFill>
                <a:latin typeface="+mj-lt"/>
                <a:ea typeface="+mj-ea"/>
                <a:cs typeface="+mj-cs"/>
              </a:rPr>
              <a:t>Life expectancy</a:t>
            </a:r>
          </a:p>
        </p:txBody>
      </p:sp>
      <p:graphicFrame>
        <p:nvGraphicFramePr>
          <p:cNvPr id="4" name="Table 3">
            <a:extLst>
              <a:ext uri="{FF2B5EF4-FFF2-40B4-BE49-F238E27FC236}">
                <a16:creationId xmlns:a16="http://schemas.microsoft.com/office/drawing/2014/main" id="{C4D9DA51-6DCE-9F06-FE4F-50F60599F583}"/>
              </a:ext>
            </a:extLst>
          </p:cNvPr>
          <p:cNvGraphicFramePr>
            <a:graphicFrameLocks noGrp="1"/>
          </p:cNvGraphicFramePr>
          <p:nvPr/>
        </p:nvGraphicFramePr>
        <p:xfrm>
          <a:off x="838200" y="2241266"/>
          <a:ext cx="10512548" cy="4207249"/>
        </p:xfrm>
        <a:graphic>
          <a:graphicData uri="http://schemas.openxmlformats.org/drawingml/2006/table">
            <a:tbl>
              <a:tblPr firstRow="1" bandRow="1">
                <a:tableStyleId>{2D5ABB26-0587-4C30-8999-92F81FD0307C}</a:tableStyleId>
              </a:tblPr>
              <a:tblGrid>
                <a:gridCol w="5316768">
                  <a:extLst>
                    <a:ext uri="{9D8B030D-6E8A-4147-A177-3AD203B41FA5}">
                      <a16:colId xmlns:a16="http://schemas.microsoft.com/office/drawing/2014/main" val="4178712577"/>
                    </a:ext>
                  </a:extLst>
                </a:gridCol>
                <a:gridCol w="5195780">
                  <a:extLst>
                    <a:ext uri="{9D8B030D-6E8A-4147-A177-3AD203B41FA5}">
                      <a16:colId xmlns:a16="http://schemas.microsoft.com/office/drawing/2014/main" val="778938554"/>
                    </a:ext>
                  </a:extLst>
                </a:gridCol>
              </a:tblGrid>
              <a:tr h="558189">
                <a:tc>
                  <a:txBody>
                    <a:bodyPr/>
                    <a:lstStyle/>
                    <a:p>
                      <a:pPr algn="ctr"/>
                      <a:r>
                        <a:rPr lang="en-US" sz="2500" b="1" dirty="0"/>
                        <a:t>Japan</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900" b="1" dirty="0"/>
                        <a:t>Germany</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9516580"/>
                  </a:ext>
                </a:extLst>
              </a:tr>
              <a:tr h="3100435">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Around 45 years of age during most of the studied period before WWII, didn’t grow fast because of Asian war.</a:t>
                      </a:r>
                    </a:p>
                    <a:p>
                      <a:pPr marL="285750" indent="-285750">
                        <a:buFont typeface="Arial" panose="020B0604020202020204" pitchFamily="34" charset="0"/>
                        <a:buChar char="•"/>
                      </a:pPr>
                      <a:r>
                        <a:rPr lang="en-US" sz="1800" dirty="0"/>
                        <a:t>Life expectancy declined sharply during the final years of the war due to destruction, poor living conditions, food shortages, and healthcare collapse.</a:t>
                      </a:r>
                    </a:p>
                    <a:p>
                      <a:pPr marL="285750" indent="-285750">
                        <a:buFont typeface="Arial" panose="020B0604020202020204" pitchFamily="34" charset="0"/>
                        <a:buChar char="•"/>
                      </a:pPr>
                      <a:r>
                        <a:rPr lang="en-US" sz="1800" dirty="0"/>
                        <a:t>Experienced severe social disruption after the atomic bombings of Hiroshima and Nagasaki in 1945</a:t>
                      </a:r>
                    </a:p>
                    <a:p>
                      <a:pPr marL="285750" indent="-285750">
                        <a:buFont typeface="Arial" panose="020B0604020202020204" pitchFamily="34" charset="0"/>
                        <a:buChar char="•"/>
                      </a:pPr>
                      <a:r>
                        <a:rPr lang="en-US" sz="1800" dirty="0"/>
                        <a:t>After 1945, showed rapid improvements in life expectancy as healthcare systems, living conditions, and economies recovered.</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dirty="0"/>
                        <a:t>Germany had higher life expectancy levels than Japan during most of the studied period before WWII.</a:t>
                      </a:r>
                    </a:p>
                    <a:p>
                      <a:pPr marL="285750" indent="-285750">
                        <a:buFont typeface="Arial" panose="020B0604020202020204" pitchFamily="34" charset="0"/>
                        <a:buChar char="•"/>
                      </a:pPr>
                      <a:r>
                        <a:rPr lang="en-US" sz="1800" dirty="0"/>
                        <a:t>Life expectancy declined sharply during the final years of the war due to destruction, poor living conditions, food shortages, and healthcare collapse</a:t>
                      </a:r>
                    </a:p>
                    <a:p>
                      <a:pPr marL="285750" indent="-285750">
                        <a:buFont typeface="Arial" panose="020B0604020202020204" pitchFamily="34" charset="0"/>
                        <a:buChar char="•"/>
                      </a:pPr>
                      <a:r>
                        <a:rPr lang="en-US" sz="1800" dirty="0"/>
                        <a:t>experienced major declines due to widespread destruction across Europe and the collapse of infrastructure by the end of the war.</a:t>
                      </a:r>
                    </a:p>
                    <a:p>
                      <a:pPr marL="285750" indent="-285750">
                        <a:buFont typeface="Arial" panose="020B0604020202020204" pitchFamily="34" charset="0"/>
                        <a:buChar char="•"/>
                      </a:pPr>
                      <a:r>
                        <a:rPr lang="en-US" sz="1800" dirty="0"/>
                        <a:t>After 1945, showed rapid improvements in life expectancy as healthcare systems, living conditions, and economies recovered.</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5383815"/>
                  </a:ext>
                </a:extLst>
              </a:tr>
            </a:tbl>
          </a:graphicData>
        </a:graphic>
      </p:graphicFrame>
    </p:spTree>
    <p:extLst>
      <p:ext uri="{BB962C8B-B14F-4D97-AF65-F5344CB8AC3E}">
        <p14:creationId xmlns:p14="http://schemas.microsoft.com/office/powerpoint/2010/main" val="2600913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908351-6663-BC4A-9277-BE5D8F82F46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4ECC3E4-1E5A-D378-2C8F-6FBA5970E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391A18-72FA-C1F8-C595-FE22F6CF1F54}"/>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4800" b="1" dirty="0"/>
              <a:t>CO2 emissions</a:t>
            </a:r>
            <a:endParaRPr lang="en-US" sz="5200" b="1" kern="1200" dirty="0">
              <a:solidFill>
                <a:schemeClr val="tx1"/>
              </a:solidFill>
              <a:latin typeface="+mj-lt"/>
              <a:ea typeface="+mj-ea"/>
              <a:cs typeface="+mj-cs"/>
            </a:endParaRPr>
          </a:p>
        </p:txBody>
      </p:sp>
      <p:graphicFrame>
        <p:nvGraphicFramePr>
          <p:cNvPr id="4" name="Table 3">
            <a:extLst>
              <a:ext uri="{FF2B5EF4-FFF2-40B4-BE49-F238E27FC236}">
                <a16:creationId xmlns:a16="http://schemas.microsoft.com/office/drawing/2014/main" id="{9E784662-4122-FC58-C707-F6DD00CB7012}"/>
              </a:ext>
            </a:extLst>
          </p:cNvPr>
          <p:cNvGraphicFramePr>
            <a:graphicFrameLocks noGrp="1"/>
          </p:cNvGraphicFramePr>
          <p:nvPr>
            <p:extLst>
              <p:ext uri="{D42A27DB-BD31-4B8C-83A1-F6EECF244321}">
                <p14:modId xmlns:p14="http://schemas.microsoft.com/office/powerpoint/2010/main" val="3226646122"/>
              </p:ext>
            </p:extLst>
          </p:nvPr>
        </p:nvGraphicFramePr>
        <p:xfrm>
          <a:off x="838200" y="1926077"/>
          <a:ext cx="10512548" cy="4091872"/>
        </p:xfrm>
        <a:graphic>
          <a:graphicData uri="http://schemas.openxmlformats.org/drawingml/2006/table">
            <a:tbl>
              <a:tblPr firstRow="1" bandRow="1">
                <a:tableStyleId>{2D5ABB26-0587-4C30-8999-92F81FD0307C}</a:tableStyleId>
              </a:tblPr>
              <a:tblGrid>
                <a:gridCol w="5316768">
                  <a:extLst>
                    <a:ext uri="{9D8B030D-6E8A-4147-A177-3AD203B41FA5}">
                      <a16:colId xmlns:a16="http://schemas.microsoft.com/office/drawing/2014/main" val="4178712577"/>
                    </a:ext>
                  </a:extLst>
                </a:gridCol>
                <a:gridCol w="5195780">
                  <a:extLst>
                    <a:ext uri="{9D8B030D-6E8A-4147-A177-3AD203B41FA5}">
                      <a16:colId xmlns:a16="http://schemas.microsoft.com/office/drawing/2014/main" val="778938554"/>
                    </a:ext>
                  </a:extLst>
                </a:gridCol>
              </a:tblGrid>
              <a:tr h="406801">
                <a:tc>
                  <a:txBody>
                    <a:bodyPr/>
                    <a:lstStyle/>
                    <a:p>
                      <a:pPr algn="ctr"/>
                      <a:r>
                        <a:rPr lang="en-US" sz="2500" b="1" dirty="0"/>
                        <a:t>Japan</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900" b="1" dirty="0"/>
                        <a:t>Germany</a:t>
                      </a:r>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9516580"/>
                  </a:ext>
                </a:extLst>
              </a:tr>
              <a:tr h="356701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Reached maximum of 2 units before the war and after the recovery by 1960.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CO₂ emissions increased before and during the war as industrial and military production expanded.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experienced a major decline in emissions after 1945 due to economic collapse and wartime destruction.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Showed rapid increases in CO₂ emissions as reconstruction and industrial recovery accelerated.</a:t>
                      </a:r>
                      <a:endParaRPr lang="en-US" sz="1800" dirty="0"/>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Maintained higher CO₂ emissions than Japan during most of the period due to its larger industrial base and heavy wartime industry.</a:t>
                      </a:r>
                    </a:p>
                    <a:p>
                      <a:pPr marL="285750" indent="-285750">
                        <a:buFont typeface="Arial" panose="020B0604020202020204" pitchFamily="34" charset="0"/>
                        <a:buChar char="•"/>
                      </a:pPr>
                      <a:r>
                        <a:rPr lang="en-US" dirty="0"/>
                        <a:t>CO₂ emissions increased before and during the war as industrial and military production expanded.</a:t>
                      </a:r>
                    </a:p>
                    <a:p>
                      <a:pPr marL="285750" indent="-285750">
                        <a:buFont typeface="Arial" panose="020B0604020202020204" pitchFamily="34" charset="0"/>
                        <a:buChar char="•"/>
                      </a:pPr>
                      <a:r>
                        <a:rPr lang="en-US" dirty="0"/>
                        <a:t>Emissions collapsed sharply around 1945 because of industrial destruction, fuel shortages, and wartime defeat.</a:t>
                      </a:r>
                    </a:p>
                    <a:p>
                      <a:pPr marL="285750" indent="-285750">
                        <a:buFont typeface="Arial" panose="020B0604020202020204" pitchFamily="34" charset="0"/>
                        <a:buChar char="•"/>
                      </a:pPr>
                      <a:r>
                        <a:rPr lang="en-US" dirty="0"/>
                        <a:t>Showed rapid increases in CO₂ emissions as reconstruction and industrial recovery accelerated.</a:t>
                      </a:r>
                      <a:endParaRPr lang="en-US" sz="1800" dirty="0"/>
                    </a:p>
                  </a:txBody>
                  <a:tcPr marL="82899" marR="82899" marT="41450" marB="414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5383815"/>
                  </a:ext>
                </a:extLst>
              </a:tr>
            </a:tbl>
          </a:graphicData>
        </a:graphic>
      </p:graphicFrame>
    </p:spTree>
    <p:extLst>
      <p:ext uri="{BB962C8B-B14F-4D97-AF65-F5344CB8AC3E}">
        <p14:creationId xmlns:p14="http://schemas.microsoft.com/office/powerpoint/2010/main" val="765689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60BA8F-DBCD-A008-9893-A2742CC842E4}"/>
              </a:ext>
            </a:extLst>
          </p:cNvPr>
          <p:cNvSpPr txBox="1"/>
          <p:nvPr/>
        </p:nvSpPr>
        <p:spPr>
          <a:xfrm>
            <a:off x="466060" y="1327357"/>
            <a:ext cx="11259879" cy="4893647"/>
          </a:xfrm>
          <a:prstGeom prst="rect">
            <a:avLst/>
          </a:prstGeom>
          <a:noFill/>
        </p:spPr>
        <p:txBody>
          <a:bodyPr wrap="square">
            <a:spAutoFit/>
          </a:bodyPr>
          <a:lstStyle/>
          <a:p>
            <a:pPr marL="342900" indent="-342900">
              <a:buFont typeface="Arial" panose="020B0604020202020204" pitchFamily="34" charset="0"/>
              <a:buChar char="•"/>
            </a:pPr>
            <a:r>
              <a:rPr lang="en-US" sz="2400" dirty="0"/>
              <a:t>This project analyzed the impact of World War II on economic growth, quality of life, and environmental change from 1925–1960 using Gross National Income (GNI) per capita, life expectancy, and CO₂ emissions. The study compared global development groups and examined Japan and Germany as case studies.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results showed that </a:t>
            </a:r>
            <a:r>
              <a:rPr lang="en-US" sz="2400" b="1" dirty="0"/>
              <a:t>developed countries generally had </a:t>
            </a:r>
            <a:r>
              <a:rPr lang="en-US" sz="2400" b="1" u="sng" dirty="0"/>
              <a:t>higher GNI</a:t>
            </a:r>
            <a:r>
              <a:rPr lang="en-US" sz="2400" b="1" dirty="0"/>
              <a:t>, </a:t>
            </a:r>
            <a:r>
              <a:rPr lang="en-US" sz="2400" b="1" u="sng" dirty="0"/>
              <a:t>life expectancy, and CO₂ emissions</a:t>
            </a:r>
            <a:r>
              <a:rPr lang="en-US" sz="2400" b="1" dirty="0"/>
              <a:t> than developing and least developed countries</a:t>
            </a:r>
            <a:r>
              <a:rPr lang="en-US" sz="2400" dirty="0"/>
              <a:t>. World War II caused major economic and social disruption, especially in industrialized nations, leading to declines in GNI and life expectancy around 1945.</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Japan and Germany </a:t>
            </a:r>
            <a:r>
              <a:rPr lang="en-US" sz="2400" u="sng" dirty="0"/>
              <a:t>experienced severe </a:t>
            </a:r>
            <a:r>
              <a:rPr lang="en-US" sz="2400" b="1" u="sng" dirty="0"/>
              <a:t>wartime</a:t>
            </a:r>
            <a:r>
              <a:rPr lang="en-US" sz="2400" u="sng" dirty="0"/>
              <a:t> collapse </a:t>
            </a:r>
            <a:r>
              <a:rPr lang="en-US" sz="2400" dirty="0"/>
              <a:t>followed </a:t>
            </a:r>
            <a:r>
              <a:rPr lang="en-US" sz="2400" b="1" u="sng" dirty="0"/>
              <a:t>by rapid recovery during the 1950s through industrial reconstruction, economic growth, improved living conditions, and rising CO₂ emissions linked to industrialization</a:t>
            </a:r>
            <a:r>
              <a:rPr lang="en-US" sz="2400" dirty="0"/>
              <a:t>.</a:t>
            </a:r>
          </a:p>
        </p:txBody>
      </p:sp>
      <p:sp>
        <p:nvSpPr>
          <p:cNvPr id="8" name="Title 1">
            <a:extLst>
              <a:ext uri="{FF2B5EF4-FFF2-40B4-BE49-F238E27FC236}">
                <a16:creationId xmlns:a16="http://schemas.microsoft.com/office/drawing/2014/main" id="{0FDCB502-8253-1397-667C-45398FCD2149}"/>
              </a:ext>
            </a:extLst>
          </p:cNvPr>
          <p:cNvSpPr>
            <a:spLocks noGrp="1"/>
          </p:cNvSpPr>
          <p:nvPr>
            <p:ph type="title"/>
          </p:nvPr>
        </p:nvSpPr>
        <p:spPr>
          <a:xfrm>
            <a:off x="838200" y="365126"/>
            <a:ext cx="10515600" cy="751294"/>
          </a:xfrm>
        </p:spPr>
        <p:txBody>
          <a:bodyPr/>
          <a:lstStyle/>
          <a:p>
            <a:r>
              <a:rPr lang="en-US" b="1" dirty="0">
                <a:latin typeface="Calisto MT" panose="02040603050505030304" pitchFamily="18" charset="0"/>
              </a:rPr>
              <a:t>Summary</a:t>
            </a:r>
          </a:p>
        </p:txBody>
      </p:sp>
    </p:spTree>
    <p:extLst>
      <p:ext uri="{BB962C8B-B14F-4D97-AF65-F5344CB8AC3E}">
        <p14:creationId xmlns:p14="http://schemas.microsoft.com/office/powerpoint/2010/main" val="379073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0B6E816-80B5-051D-F2EB-C6EA79749BB2}"/>
              </a:ext>
            </a:extLst>
          </p:cNvPr>
          <p:cNvSpPr txBox="1"/>
          <p:nvPr/>
        </p:nvSpPr>
        <p:spPr>
          <a:xfrm>
            <a:off x="753140" y="1139428"/>
            <a:ext cx="10026502" cy="4893647"/>
          </a:xfrm>
          <a:prstGeom prst="rect">
            <a:avLst/>
          </a:prstGeom>
          <a:noFill/>
        </p:spPr>
        <p:txBody>
          <a:bodyPr wrap="square">
            <a:spAutoFit/>
          </a:bodyPr>
          <a:lstStyle/>
          <a:p>
            <a:pPr marL="342900" indent="-342900">
              <a:buFont typeface="Arial" panose="020B0604020202020204" pitchFamily="34" charset="0"/>
              <a:buChar char="•"/>
            </a:pPr>
            <a:r>
              <a:rPr lang="en-US" sz="2400" dirty="0"/>
              <a:t>The findings show that World War II had major long-term economic, social, and environmental effects, especially on industrialized countries such as Germany and Japan. The war disrupted economic growth, reduced life expectancy, and damaged industrial systems, while post-war reconstruction led to rapid recovery and development.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study also highlights the link between industrialization and environmental impact, as CO₂ emissions increased sharply during post-war economic expansion, particularly in developed countries.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Overall, the project demonstrates how major global conflicts can strongly affect economic performance, human well-being, and environmental change over time.</a:t>
            </a:r>
          </a:p>
        </p:txBody>
      </p:sp>
      <p:sp>
        <p:nvSpPr>
          <p:cNvPr id="9" name="Title 1">
            <a:extLst>
              <a:ext uri="{FF2B5EF4-FFF2-40B4-BE49-F238E27FC236}">
                <a16:creationId xmlns:a16="http://schemas.microsoft.com/office/drawing/2014/main" id="{D7FE0960-E5E6-E43C-5427-11864FFC8A7F}"/>
              </a:ext>
            </a:extLst>
          </p:cNvPr>
          <p:cNvSpPr>
            <a:spLocks noGrp="1"/>
          </p:cNvSpPr>
          <p:nvPr>
            <p:ph type="title"/>
          </p:nvPr>
        </p:nvSpPr>
        <p:spPr>
          <a:xfrm>
            <a:off x="264042" y="311964"/>
            <a:ext cx="10515600" cy="751294"/>
          </a:xfrm>
        </p:spPr>
        <p:txBody>
          <a:bodyPr/>
          <a:lstStyle/>
          <a:p>
            <a:r>
              <a:rPr lang="en-US" b="1" dirty="0">
                <a:latin typeface="Calisto MT" panose="02040603050505030304" pitchFamily="18" charset="0"/>
              </a:rPr>
              <a:t>Conclusion</a:t>
            </a:r>
          </a:p>
        </p:txBody>
      </p:sp>
    </p:spTree>
    <p:extLst>
      <p:ext uri="{BB962C8B-B14F-4D97-AF65-F5344CB8AC3E}">
        <p14:creationId xmlns:p14="http://schemas.microsoft.com/office/powerpoint/2010/main" val="18598480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1659</TotalTime>
  <Words>2542</Words>
  <Application>Microsoft Office PowerPoint</Application>
  <PresentationFormat>Widescreen</PresentationFormat>
  <Paragraphs>132</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Calisto MT</vt:lpstr>
      <vt:lpstr>Office Theme</vt:lpstr>
      <vt:lpstr>World Development Statistics</vt:lpstr>
      <vt:lpstr>Introduction</vt:lpstr>
      <vt:lpstr>Problem Statement </vt:lpstr>
      <vt:lpstr>Objectives:</vt:lpstr>
      <vt:lpstr>Gross National Income (GNI) per capita</vt:lpstr>
      <vt:lpstr>PowerPoint Presentation</vt:lpstr>
      <vt:lpstr>PowerPoint Presentation</vt:lpstr>
      <vt:lpstr>PowerPoint Presentation</vt:lpstr>
      <vt:lpstr>PowerPoint Presentation</vt:lpstr>
      <vt:lpstr>Life Expectancy </vt:lpstr>
      <vt:lpstr>PowerPoint Presentation</vt:lpstr>
      <vt:lpstr>PowerPoint Presentation</vt:lpstr>
      <vt:lpstr>PowerPoint Presentation</vt:lpstr>
      <vt:lpstr>PowerPoint Presentation</vt:lpstr>
      <vt:lpstr>(Worldwide Study Summary)</vt:lpstr>
      <vt:lpstr>Case study country I </vt:lpstr>
      <vt:lpstr>Japan (1925–1960)</vt:lpstr>
      <vt:lpstr>PowerPoint Presentation</vt:lpstr>
      <vt:lpstr>PowerPoint Presentation</vt:lpstr>
      <vt:lpstr>PowerPoint Presentation</vt:lpstr>
      <vt:lpstr>Case study country II </vt:lpstr>
      <vt:lpstr>Germany(1925-1960)</vt:lpstr>
      <vt:lpstr>PowerPoint Presentation</vt:lpstr>
      <vt:lpstr>PowerPoint Presentation</vt:lpstr>
      <vt:lpstr>PowerPoint Presentation</vt:lpstr>
      <vt:lpstr>Gross National Income (GNI)</vt:lpstr>
      <vt:lpstr>Life expectancy</vt:lpstr>
      <vt:lpstr>CO2 emissions</vt:lpstr>
      <vt:lpstr>Summary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Mujtaba A.Rasool Alalaiwat</dc:creator>
  <cp:lastModifiedBy>shaikha marzooq</cp:lastModifiedBy>
  <cp:revision>52</cp:revision>
  <dcterms:created xsi:type="dcterms:W3CDTF">2026-05-05T22:40:05Z</dcterms:created>
  <dcterms:modified xsi:type="dcterms:W3CDTF">2026-05-10T16:17:41Z</dcterms:modified>
</cp:coreProperties>
</file>